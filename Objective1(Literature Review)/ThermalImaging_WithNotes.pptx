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 everyone. My name is Lofoga Innocent, and together with my research partner Ayikoru Winnie, I'm excited to present our progress on Objective One of our project — a comprehensive literature review of medical thermal imaging technologies for breast cancer and tumor detection.</a:t>
            </a:r>
          </a:p>
          <a:p>
            <a:endParaRPr lang="en-US" dirty="0"/>
          </a:p>
          <a:p>
            <a:r>
              <a:rPr lang="en-US" sz="1200" dirty="0"/>
              <a:t>This literature review forms the scientific foundation of our broader project, which is the development of a low-cost thermal imaging device right here at Mbarara University of Science and Technology. Before we build, we needed to deeply understand what the science says — and that's exactly what this review covers.</a:t>
            </a:r>
          </a:p>
          <a:p>
            <a:endParaRPr lang="en-US" dirty="0"/>
          </a:p>
          <a:p>
            <a:r>
              <a:rPr lang="en-US" sz="1200" dirty="0"/>
              <a:t>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Let me start by grounding us in why this work matters.</a:t>
            </a:r>
          </a:p>
          <a:p>
            <a:endParaRPr lang="en-US" dirty="0"/>
          </a:p>
          <a:p>
            <a:r>
              <a:rPr lang="en-US" sz="1200" dirty="0"/>
              <a:t>Breast cancer causes over 2.1 million new cases every year globally — it is the number one cancer affecting women worldwide. And here's the heartbreaking truth: research shows that approximately 96% of cancers are treatable if caught before they spread. The problem is not a lack of solutions — it's a lack of accessible, early detection.</a:t>
            </a:r>
          </a:p>
          <a:p>
            <a:endParaRPr lang="en-US" dirty="0"/>
          </a:p>
          <a:p>
            <a:r>
              <a:rPr lang="en-US" sz="1200" dirty="0"/>
              <a:t>Conventional tools like mammography, MRI, and CT scans are effective, but they come with serious limitations — they use ionizing radiation, they're expensive, they're uncomfortable, and in countries like Uganda, they're simply not available to most women.</a:t>
            </a:r>
          </a:p>
          <a:p>
            <a:endParaRPr lang="en-US" dirty="0"/>
          </a:p>
          <a:p>
            <a:r>
              <a:rPr lang="en-US" sz="1200" dirty="0"/>
              <a:t>This is where Digital Infrared Thermal Imaging — or DITI — comes in. It is non-invasive, it produces zero radiation, it's potentially low-cost, and it detects cancer based on a fascinating biological principle: malignant tumors run hotter than healthy tissue. Our device exploits exactly this principle.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So why do tumors run hotter? Let me explain the biology behind this.</a:t>
            </a:r>
          </a:p>
          <a:p>
            <a:endParaRPr lang="en-US" dirty="0"/>
          </a:p>
          <a:p>
            <a:r>
              <a:rPr lang="en-US" sz="1200" dirty="0"/>
              <a:t>Cancer cells multiply rapidly and have elevated metabolic rates — this uncontrolled activity generates excess heat. The Pennes bioheat transfer equation — a well-established mathematical model — captures this relationship between metabolic heat, blood flow, and tissue temperature.</a:t>
            </a:r>
          </a:p>
          <a:p>
            <a:endParaRPr lang="en-US" dirty="0"/>
          </a:p>
          <a:p>
            <a:r>
              <a:rPr lang="en-US" sz="1200" dirty="0"/>
              <a:t>There's also a key process called angiogenesis — this is where tumors release growth factors called VEGF, which trigger the formation of new blood vessels to feed the growing tumor. This creates a dense, chaotic vascular network that increases local blood flow and raises local temperature.</a:t>
            </a:r>
          </a:p>
          <a:p>
            <a:endParaRPr lang="en-US" dirty="0"/>
          </a:p>
          <a:p>
            <a:r>
              <a:rPr lang="en-US" sz="1200" dirty="0"/>
              <a:t>The result? Thermal asymmetries of 1 to 3 degrees Celsius on the skin surface — detectable by an infrared camera before the tumor is even large enough to feel.</a:t>
            </a:r>
          </a:p>
          <a:p>
            <a:endParaRPr lang="en-US" dirty="0"/>
          </a:p>
          <a:p>
            <a:r>
              <a:rPr lang="en-US" sz="1200" dirty="0"/>
              <a:t>Different cancers produce different thermal signatures. Breast cancer shows up as hot spots on the chest. Thyroid cancer causes elevated temperatures on the neck. Skin cancers are directly visible on the surface. This biological reality is what makes thermography scientifically credible — and it's the core principle powering our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literature describes several distinct thermographic technologies, and our review maps all of them.</a:t>
            </a:r>
          </a:p>
          <a:p>
            <a:endParaRPr lang="en-US" dirty="0"/>
          </a:p>
          <a:p>
            <a:r>
              <a:rPr lang="en-US" sz="1200" dirty="0"/>
              <a:t>The most common is Passive or Static IR thermography — no external stimulation, just capturing the body's natural heat. Modern cameras like the FLIR SC-620 can detect temperature differences as small as 0.05 degrees Celsius. This is the approach closest to what our device uses.</a:t>
            </a:r>
          </a:p>
          <a:p>
            <a:endParaRPr lang="en-US" dirty="0"/>
          </a:p>
          <a:p>
            <a:r>
              <a:rPr lang="en-US" sz="1200" dirty="0"/>
              <a:t>Dynamic or Active thermography goes further — it applies a cooling or heating stimulus and then observes how tissue recovers. Cancerous tissue, with its higher blood supply, recovers faster. This adds discriminatory power.</a:t>
            </a:r>
          </a:p>
          <a:p>
            <a:endParaRPr lang="en-US" dirty="0"/>
          </a:p>
          <a:p>
            <a:r>
              <a:rPr lang="en-US" sz="1200" dirty="0"/>
              <a:t>Lock-in thermography uses periodic heating pulses and signal processing algorithms to dramatically improve the signal-to-noise ratio — very useful for detecting deeper lesions.</a:t>
            </a:r>
          </a:p>
          <a:p>
            <a:endParaRPr lang="en-US" dirty="0"/>
          </a:p>
          <a:p>
            <a:r>
              <a:rPr lang="en-US" sz="1200" dirty="0"/>
              <a:t>Rotational Breast Thermography captures images from multiple angles as the camera rotates around the patient — giving 3D thermal coverage.</a:t>
            </a:r>
          </a:p>
          <a:p>
            <a:endParaRPr lang="en-US" dirty="0"/>
          </a:p>
          <a:p>
            <a:r>
              <a:rPr lang="en-US" sz="1200" dirty="0"/>
              <a:t>ITME — Infrared Thermal Modulation Endoscopy — is a breakthrough for internal tumors. It adapts thermographic principles for endoscopic use, detecting early rectal tumors in preclinical models.</a:t>
            </a:r>
          </a:p>
          <a:p>
            <a:endParaRPr lang="en-US" dirty="0"/>
          </a:p>
          <a:p>
            <a:r>
              <a:rPr lang="en-US" sz="1200" dirty="0"/>
              <a:t>And finally, ICET imaging uses magnetically induced electrical currents to exploit the fact that tumor tissue has 2.5 times higher electrical conductivity than normal tissue — improving detection of deep lesions by 4 millimetres.</a:t>
            </a:r>
          </a:p>
          <a:p>
            <a:endParaRPr lang="en-US" dirty="0"/>
          </a:p>
          <a:p>
            <a:r>
              <a:rPr lang="en-US" sz="1200" dirty="0"/>
              <a:t>Understanding all of these modalities shaped decisions in our hardware and algorithm design.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One of the most exciting developments in the field — and directly relevant to our project — is the miniaturisation of thermal imaging into smartphone-based devices.</a:t>
            </a:r>
          </a:p>
          <a:p>
            <a:endParaRPr lang="en-US" dirty="0"/>
          </a:p>
          <a:p>
            <a:r>
              <a:rPr lang="en-US" sz="1200" dirty="0"/>
              <a:t>The FLIR One Pro is a smartphone-attachable thermal sensor that has been validated in clinical studies. An AI-powered Breast Cancer Pre-Screening Solution built around this type of sensor demonstrated performance comparable to mammography in first-pass screening.</a:t>
            </a:r>
          </a:p>
          <a:p>
            <a:endParaRPr lang="en-US" dirty="0"/>
          </a:p>
          <a:p>
            <a:r>
              <a:rPr lang="en-US" sz="1200" dirty="0"/>
              <a:t>Why does this matter for us? Because in Sub-Saharan Africa, over 70 percent of breast cancer patients are diagnosed at advanced stages — largely because they simply cannot access a mammogram. A smartphone-based thermal imager changes that equation entirely. It enables community-level screening, outside hospital walls, at a fraction of the cost.</a:t>
            </a:r>
          </a:p>
          <a:p>
            <a:endParaRPr lang="en-US" dirty="0"/>
          </a:p>
          <a:p>
            <a:r>
              <a:rPr lang="en-US" sz="1200" dirty="0"/>
              <a:t>Our device — built around the AMG8833 sensor and NodeMCU ESP8266 — is inspired by exactly this vision: bringing safe, affordable, non-ionizing screening to women in underserved communities right here in Uganda.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Capturing thermal images is only half the challenge. The other half is interpreting them accurately and consistently — and this is where Artificial Intelligence has transformed the field.</a:t>
            </a:r>
          </a:p>
          <a:p>
            <a:endParaRPr lang="en-US" dirty="0"/>
          </a:p>
          <a:p>
            <a:r>
              <a:rPr lang="en-US" sz="1200" dirty="0"/>
              <a:t>A standard Computer-Aided Diagnosis pipeline moves from image acquisition through preprocessing, segmentation, feature extraction, and finally classification. Each stage has been the subject of intense research.</a:t>
            </a:r>
          </a:p>
          <a:p>
            <a:endParaRPr lang="en-US" dirty="0"/>
          </a:p>
          <a:p>
            <a:r>
              <a:rPr lang="en-US" sz="1200" dirty="0"/>
              <a:t>Earlier systems used traditional machine learning — Support Vector Machines, Random Forests, and neural networks — applied to handcrafted image features like texture descriptors and temperature asymmetry indices. These worked reasonably well but were limited by human-designed feature engineering.</a:t>
            </a:r>
          </a:p>
          <a:p>
            <a:endParaRPr lang="en-US" dirty="0"/>
          </a:p>
          <a:p>
            <a:r>
              <a:rPr lang="en-US" sz="1200" dirty="0"/>
              <a:t>The real leap came with deep learning. Convolutional Neural Networks like VGG16, ResNet, and InceptionV3 learn their own features directly from raw image data through transfer learning. The Thermo-CAD system achieved high accuracy with reduced computational complexity. A PSO-optimized CNN significantly reduced false positive rates — which is critical for clinical trust.</a:t>
            </a:r>
          </a:p>
          <a:p>
            <a:endParaRPr lang="en-US" dirty="0"/>
          </a:p>
          <a:p>
            <a:r>
              <a:rPr lang="en-US" sz="1200" dirty="0"/>
              <a:t>For our device, we are incorporating a thermal interpolation algorithm that upscales the raw 8×8 sensor data into a smooth 70×70 heatmap — this is our first step in the image analysis pipeline, and the literature strongly supports this approach as the foundation for further AI integration in future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literature review covers thermography applications across multiple cancer types, which demonstrates the breadth and potential of this technology.</a:t>
            </a:r>
          </a:p>
          <a:p>
            <a:endParaRPr lang="en-US" dirty="0"/>
          </a:p>
          <a:p>
            <a:r>
              <a:rPr lang="en-US" sz="1200" dirty="0"/>
              <a:t>Breast cancer dominates the research landscape — and for good reason. Thermography is painless, requires no compression, and produces no radiation. Optimized deep learning models in the literature achieve between 97 and 100 percent diagnostic accuracy. The FDA currently positions thermography as a complementary tool to mammography, not a replacement — and we align with that positioning for our device.</a:t>
            </a:r>
          </a:p>
          <a:p>
            <a:endParaRPr lang="en-US" dirty="0"/>
          </a:p>
          <a:p>
            <a:r>
              <a:rPr lang="en-US" sz="1200" dirty="0"/>
              <a:t>For thyroid cancer, AI-enhanced thermography achieved 91.11 percent classification accuracy using CNN models — offering a non-invasive alternative to fine-needle aspiration biopsy for pre-operative risk stratification.</a:t>
            </a:r>
          </a:p>
          <a:p>
            <a:endParaRPr lang="en-US" dirty="0"/>
          </a:p>
          <a:p>
            <a:r>
              <a:rPr lang="en-US" sz="1200" dirty="0"/>
              <a:t>For skin cancers like melanoma, thermography is particularly powerful because the lesions are right at the surface. Thermal wave imaging has successfully distinguished malignant melanoma from benign skin conditions.</a:t>
            </a:r>
          </a:p>
          <a:p>
            <a:endParaRPr lang="en-US" dirty="0"/>
          </a:p>
          <a:p>
            <a:r>
              <a:rPr lang="en-US" sz="1200" dirty="0"/>
              <a:t>Even internal tumors — brain and rectal — have been explored, with ITME showing early promise in preclinical models. This tells us that the fundamental principle of thermography has far broader applicability than just the breast.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No honest review would be complete without confronting the limitations — and there are real ones that we must acknowledge, both for academic rigour and for our own project planning.</a:t>
            </a:r>
          </a:p>
          <a:p>
            <a:endParaRPr lang="en-US" dirty="0"/>
          </a:p>
          <a:p>
            <a:r>
              <a:rPr lang="en-US" sz="1200" dirty="0"/>
              <a:t>The biggest challenge is clinical validation. Most published studies are small and single-centre. The FDA has not approved thermography as a primary screening tool because there are no large-scale randomised controlled trials yet.</a:t>
            </a:r>
          </a:p>
          <a:p>
            <a:endParaRPr lang="en-US" dirty="0"/>
          </a:p>
          <a:p>
            <a:r>
              <a:rPr lang="en-US" sz="1200" dirty="0"/>
              <a:t>Dataset limitations are also significant. Almost all deep learning models in the literature are trained on a single dataset — the DMR-IR database from Brazil. This raises serious questions about whether these models generalise to African populations, different camera hardware, and different clinical protocols — questions directly relevant to our work.</a:t>
            </a:r>
          </a:p>
          <a:p>
            <a:endParaRPr lang="en-US" dirty="0"/>
          </a:p>
          <a:p>
            <a:r>
              <a:rPr lang="en-US" sz="1200" dirty="0"/>
              <a:t>Physiological confounders are real — ambient room temperature, hormonal cycles, caffeine consumption — all of these can alter a thermal signature. This is why our device design includes a controlled measurement protocol.</a:t>
            </a:r>
          </a:p>
          <a:p>
            <a:endParaRPr lang="en-US" dirty="0"/>
          </a:p>
          <a:p>
            <a:r>
              <a:rPr lang="en-US" sz="1200" dirty="0"/>
              <a:t>The depth limitation is a fundamental physical constraint — passive IR cameras cannot reliably detect tumours deeper than 2 to 3 centimetres below the skin surface. This is something we are transparent about in our device specifications.</a:t>
            </a:r>
          </a:p>
          <a:p>
            <a:endParaRPr lang="en-US" dirty="0"/>
          </a:p>
          <a:p>
            <a:r>
              <a:rPr lang="en-US" sz="1200" dirty="0"/>
              <a:t>And finally, AI interpretability remains unsolved. Black-box CNN decisions are not acceptable to clinicians who need to understand why a system flagged a result. Explainable AI methods are being developed, but not yet clinically validated.</a:t>
            </a:r>
          </a:p>
          <a:p>
            <a:endParaRPr lang="en-US" dirty="0"/>
          </a:p>
          <a:p>
            <a:r>
              <a:rPr lang="en-US" sz="1200" dirty="0"/>
              <a:t>These challenges don't undermine the technology — they define the research agenda going forward.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Based on this comprehensive review, we identified six high-priority directions that should guide future research — including our own continued work.</a:t>
            </a:r>
          </a:p>
          <a:p>
            <a:endParaRPr lang="en-US" dirty="0"/>
          </a:p>
          <a:p>
            <a:r>
              <a:rPr lang="en-US" sz="1200" dirty="0"/>
              <a:t>First, multimodal fusion — combining thermal images with mammography, ultrasound, or MRI data has shown 3 to 7 percent accuracy improvements. This is a natural extension of our current single-modality approach.</a:t>
            </a:r>
          </a:p>
          <a:p>
            <a:endParaRPr lang="en-US" dirty="0"/>
          </a:p>
          <a:p>
            <a:r>
              <a:rPr lang="en-US" sz="1200" dirty="0"/>
              <a:t>Second, federated learning — this allows multiple hospitals to collaboratively train AI models without sharing raw patient data. With only 1 to 3 published studies in this space, it is an almost completely open research frontier.</a:t>
            </a:r>
          </a:p>
          <a:p>
            <a:endParaRPr lang="en-US" dirty="0"/>
          </a:p>
          <a:p>
            <a:r>
              <a:rPr lang="en-US" sz="1200" dirty="0"/>
              <a:t>Third, protocol standardisation — the field desperately needs international standards for imaging conditions, patient preparation, and data annotation. This is especially urgent for African populations, where we are uniquely positioned to contribute data that the global literature currently lacks.</a:t>
            </a:r>
          </a:p>
          <a:p>
            <a:endParaRPr lang="en-US" dirty="0"/>
          </a:p>
          <a:p>
            <a:r>
              <a:rPr lang="en-US" sz="1200" dirty="0"/>
              <a:t>Fourth, wearable thermal monitoring — flexible infrared sensors that continuously track skin temperature could provide longitudinal data far richer than a single clinic visit.</a:t>
            </a:r>
          </a:p>
          <a:p>
            <a:endParaRPr lang="en-US" dirty="0"/>
          </a:p>
          <a:p>
            <a:r>
              <a:rPr lang="en-US" sz="1200" dirty="0"/>
              <a:t>Fifth, nanoparticle enhancement — magnetic nanoparticles that accumulate in tumours and can be externally heated could extend thermographic sensitivity to deeper lesions — potentially solving the depth limitation.</a:t>
            </a:r>
          </a:p>
          <a:p>
            <a:endParaRPr lang="en-US" dirty="0"/>
          </a:p>
          <a:p>
            <a:r>
              <a:rPr lang="en-US" sz="1200" dirty="0"/>
              <a:t>Sixth, explainable AI and real-time video thermography — spatiotemporal deep learning architectures applied to thermographic video streams represent the next frontier in diagnostic intelligence.</a:t>
            </a:r>
          </a:p>
          <a:p>
            <a:endParaRPr lang="en-US" dirty="0"/>
          </a:p>
          <a:p>
            <a:r>
              <a:rPr lang="en-US" sz="1200" dirty="0"/>
              <a:t>Our device contributes to directions three and four in particular — generating locally-relevant Ugandan data and exploring a portable, community-deployable form factor.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conclude — and I want to leave you with a clear message.</a:t>
            </a:r>
          </a:p>
          <a:p>
            <a:endParaRPr lang="en-US" dirty="0"/>
          </a:p>
          <a:p>
            <a:r>
              <a:rPr lang="en-US" sz="1200" dirty="0"/>
              <a:t>Medical thermal imaging is not experimental speculation. It is scientifically grounded in the well-understood thermobiology of malignant tumours. It is supported by decades of research and increasingly sophisticated technology. And it is uniquely positioned to address the cancer detection gap in low-resource settings like ours.</a:t>
            </a:r>
          </a:p>
          <a:p>
            <a:endParaRPr lang="en-US" dirty="0"/>
          </a:p>
          <a:p>
            <a:r>
              <a:rPr lang="en-US" sz="1200" dirty="0"/>
              <a:t>The achievements the field has made are real and significant: improved sensor technology, powerful deep learning models, expanded clinical applications, and the emergence of affordable smartphone-based solutions.</a:t>
            </a:r>
          </a:p>
          <a:p>
            <a:endParaRPr lang="en-US" dirty="0"/>
          </a:p>
          <a:p>
            <a:r>
              <a:rPr lang="en-US" sz="1200" dirty="0"/>
              <a:t>But the challenges are equally real: limited diverse datasets, no standardised protocols, no FDA approval as a primary tool, and unresolved questions about AI interpretability and deep tumour detection.</a:t>
            </a:r>
          </a:p>
          <a:p>
            <a:endParaRPr lang="en-US" dirty="0"/>
          </a:p>
          <a:p>
            <a:r>
              <a:rPr lang="en-US" sz="1200" dirty="0"/>
              <a:t>Our project — the low-cost thermal imaging device being developed right here at MUST — sits precisely at this intersection. We are building a tool that responds to local clinical need, informed by a thorough understanding of global scientific evidence, with the ambition of generating African data that the global literature currently lacks.</a:t>
            </a:r>
          </a:p>
          <a:p>
            <a:endParaRPr lang="en-US" dirty="0"/>
          </a:p>
          <a:p>
            <a:r>
              <a:rPr lang="en-US" sz="1200" dirty="0"/>
              <a:t>Thank you for your time and attention. Ayikoru and I are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D7377"/>
          </a:solidFill>
          <a:ln w="12700">
            <a:solidFill>
              <a:srgbClr val="0D7377"/>
            </a:solidFill>
            <a:prstDash val="solid"/>
          </a:ln>
        </p:spPr>
      </p:sp>
      <p:sp>
        <p:nvSpPr>
          <p:cNvPr id="3" name="Shape 1"/>
          <p:cNvSpPr/>
          <p:nvPr/>
        </p:nvSpPr>
        <p:spPr>
          <a:xfrm>
            <a:off x="3200400" y="0"/>
            <a:ext cx="73152" cy="5143500"/>
          </a:xfrm>
          <a:prstGeom prst="rect">
            <a:avLst/>
          </a:prstGeom>
          <a:solidFill>
            <a:srgbClr val="32E0C4"/>
          </a:solidFill>
          <a:ln w="12700">
            <a:solidFill>
              <a:srgbClr val="32E0C4"/>
            </a:solidFill>
            <a:prstDash val="solid"/>
          </a:ln>
        </p:spPr>
      </p:sp>
      <p:pic>
        <p:nvPicPr>
          <p:cNvPr id="4" name="Image 0" descr="preencoded.png"/>
          <p:cNvPicPr>
            <a:picLocks noChangeAspect="1"/>
          </p:cNvPicPr>
          <p:nvPr/>
        </p:nvPicPr>
        <p:blipFill>
          <a:blip r:embed="rId1"/>
          <a:stretch>
            <a:fillRect/>
          </a:stretch>
        </p:blipFill>
        <p:spPr>
          <a:xfrm>
            <a:off x="914400" y="1280160"/>
            <a:ext cx="1371600" cy="1371600"/>
          </a:xfrm>
          <a:prstGeom prst="rect">
            <a:avLst/>
          </a:prstGeom>
        </p:spPr>
      </p:pic>
      <p:sp>
        <p:nvSpPr>
          <p:cNvPr id="5" name="Text 2"/>
          <p:cNvSpPr/>
          <p:nvPr/>
        </p:nvSpPr>
        <p:spPr>
          <a:xfrm>
            <a:off x="228600" y="2926080"/>
            <a:ext cx="2743200" cy="822960"/>
          </a:xfrm>
          <a:prstGeom prst="rect">
            <a:avLst/>
          </a:prstGeom>
          <a:noFill/>
          <a:ln/>
        </p:spPr>
        <p:txBody>
          <a:bodyPr wrap="square" rtlCol="0" anchor="ctr"/>
          <a:lstStyle/>
          <a:p>
            <a:pPr algn="ctr" indent="0" marL="0">
              <a:buNone/>
            </a:pPr>
            <a:r>
              <a:rPr lang="en-US" sz="1100" b="1" spc="400" kern="0" dirty="0">
                <a:solidFill>
                  <a:srgbClr val="32E0C4"/>
                </a:solidFill>
                <a:latin typeface="Trebuchet MS" pitchFamily="34" charset="0"/>
                <a:ea typeface="Trebuchet MS" pitchFamily="34" charset="-122"/>
                <a:cs typeface="Trebuchet MS" pitchFamily="34" charset="-120"/>
              </a:rPr>
              <a:t>LITERATURE</a:t>
            </a:r>
            <a:endParaRPr lang="en-US" sz="1100" dirty="0"/>
          </a:p>
          <a:p>
            <a:pPr algn="ctr" indent="0" marL="0">
              <a:buNone/>
            </a:pPr>
            <a:r>
              <a:rPr lang="en-US" sz="1100" b="1" spc="400" kern="0" dirty="0">
                <a:solidFill>
                  <a:srgbClr val="32E0C4"/>
                </a:solidFill>
                <a:latin typeface="Trebuchet MS" pitchFamily="34" charset="0"/>
                <a:ea typeface="Trebuchet MS" pitchFamily="34" charset="-122"/>
                <a:cs typeface="Trebuchet MS" pitchFamily="34" charset="-120"/>
              </a:rPr>
              <a:t>REVIEW</a:t>
            </a:r>
            <a:endParaRPr lang="en-US" sz="1100" dirty="0"/>
          </a:p>
        </p:txBody>
      </p:sp>
      <p:sp>
        <p:nvSpPr>
          <p:cNvPr id="6" name="Text 3"/>
          <p:cNvSpPr/>
          <p:nvPr/>
        </p:nvSpPr>
        <p:spPr>
          <a:xfrm>
            <a:off x="3474720" y="594360"/>
            <a:ext cx="5394960" cy="182880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Medical Thermal</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Imaging Technologies</a:t>
            </a:r>
            <a:endParaRPr lang="en-US" sz="3400" dirty="0"/>
          </a:p>
        </p:txBody>
      </p:sp>
      <p:sp>
        <p:nvSpPr>
          <p:cNvPr id="7" name="Text 4"/>
          <p:cNvSpPr/>
          <p:nvPr/>
        </p:nvSpPr>
        <p:spPr>
          <a:xfrm>
            <a:off x="3474720" y="2331720"/>
            <a:ext cx="5394960" cy="594360"/>
          </a:xfrm>
          <a:prstGeom prst="rect">
            <a:avLst/>
          </a:prstGeom>
          <a:noFill/>
          <a:ln/>
        </p:spPr>
        <p:txBody>
          <a:bodyPr wrap="square" rtlCol="0" anchor="ctr"/>
          <a:lstStyle/>
          <a:p>
            <a:pPr indent="0" marL="0">
              <a:buNone/>
            </a:pPr>
            <a:r>
              <a:rPr lang="en-US" sz="1800" i="1" dirty="0">
                <a:solidFill>
                  <a:srgbClr val="32E0C4"/>
                </a:solidFill>
                <a:latin typeface="Calibri" pitchFamily="34" charset="0"/>
                <a:ea typeface="Calibri" pitchFamily="34" charset="-122"/>
                <a:cs typeface="Calibri" pitchFamily="34" charset="-120"/>
              </a:rPr>
              <a:t>for Breast Cancer &amp; Tumor Detection</a:t>
            </a:r>
            <a:endParaRPr lang="en-US" sz="1800" dirty="0"/>
          </a:p>
        </p:txBody>
      </p:sp>
      <p:sp>
        <p:nvSpPr>
          <p:cNvPr id="8" name="Shape 5"/>
          <p:cNvSpPr/>
          <p:nvPr/>
        </p:nvSpPr>
        <p:spPr>
          <a:xfrm>
            <a:off x="3474720" y="3017520"/>
            <a:ext cx="5394960" cy="32004"/>
          </a:xfrm>
          <a:prstGeom prst="rect">
            <a:avLst/>
          </a:prstGeom>
          <a:solidFill>
            <a:srgbClr val="8FA8C8"/>
          </a:solidFill>
          <a:ln w="12700">
            <a:solidFill>
              <a:srgbClr val="8FA8C8"/>
            </a:solidFill>
            <a:prstDash val="solid"/>
          </a:ln>
        </p:spPr>
      </p:sp>
      <p:sp>
        <p:nvSpPr>
          <p:cNvPr id="9" name="Text 6"/>
          <p:cNvSpPr/>
          <p:nvPr/>
        </p:nvSpPr>
        <p:spPr>
          <a:xfrm>
            <a:off x="3474720" y="3200400"/>
            <a:ext cx="5394960" cy="36576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Researchers: Lofoga Innocent &amp; Ayikoru Winnie</a:t>
            </a:r>
            <a:endParaRPr lang="en-US" sz="1300" dirty="0"/>
          </a:p>
        </p:txBody>
      </p:sp>
      <p:sp>
        <p:nvSpPr>
          <p:cNvPr id="10" name="Text 7"/>
          <p:cNvSpPr/>
          <p:nvPr/>
        </p:nvSpPr>
        <p:spPr>
          <a:xfrm>
            <a:off x="3474720" y="3657600"/>
            <a:ext cx="5394960" cy="731520"/>
          </a:xfrm>
          <a:prstGeom prst="rect">
            <a:avLst/>
          </a:prstGeom>
          <a:noFill/>
          <a:ln/>
        </p:spPr>
        <p:txBody>
          <a:bodyPr wrap="square" rtlCol="0" anchor="ctr"/>
          <a:lstStyle/>
          <a:p>
            <a:pPr indent="0" marL="0">
              <a:buNone/>
            </a:pPr>
            <a:r>
              <a:rPr lang="en-US" sz="1100" i="1" dirty="0">
                <a:solidFill>
                  <a:srgbClr val="8FA8C8"/>
                </a:solidFill>
                <a:latin typeface="Calibri" pitchFamily="34" charset="0"/>
                <a:ea typeface="Calibri" pitchFamily="34" charset="-122"/>
                <a:cs typeface="Calibri" pitchFamily="34" charset="-120"/>
              </a:rPr>
              <a:t>Objective: To review medical thermal imaging technologies and identify future research directions.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Introduction &amp; Global Impact</a:t>
            </a:r>
            <a:endParaRPr lang="en-US" sz="2400" dirty="0"/>
          </a:p>
        </p:txBody>
      </p:sp>
      <p:sp>
        <p:nvSpPr>
          <p:cNvPr id="4" name="Shape 2"/>
          <p:cNvSpPr/>
          <p:nvPr/>
        </p:nvSpPr>
        <p:spPr>
          <a:xfrm>
            <a:off x="320040" y="960120"/>
            <a:ext cx="2651760" cy="150876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320040" y="1005840"/>
            <a:ext cx="2651760" cy="77724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2.1M+</a:t>
            </a:r>
            <a:endParaRPr lang="en-US" sz="3600" dirty="0"/>
          </a:p>
        </p:txBody>
      </p:sp>
      <p:sp>
        <p:nvSpPr>
          <p:cNvPr id="6" name="Text 4"/>
          <p:cNvSpPr/>
          <p:nvPr/>
        </p:nvSpPr>
        <p:spPr>
          <a:xfrm>
            <a:off x="320040" y="1783080"/>
            <a:ext cx="2651760" cy="5943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New breast cancer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cases annually</a:t>
            </a:r>
            <a:endParaRPr lang="en-US" sz="1100" dirty="0"/>
          </a:p>
        </p:txBody>
      </p:sp>
      <p:sp>
        <p:nvSpPr>
          <p:cNvPr id="7" name="Shape 5"/>
          <p:cNvSpPr/>
          <p:nvPr/>
        </p:nvSpPr>
        <p:spPr>
          <a:xfrm>
            <a:off x="3246120" y="960120"/>
            <a:ext cx="2651760" cy="1508760"/>
          </a:xfrm>
          <a:prstGeom prst="rect">
            <a:avLst/>
          </a:prstGeom>
          <a:solidFill>
            <a:srgbClr val="F4A261"/>
          </a:solidFill>
          <a:ln w="12700">
            <a:solidFill>
              <a:srgbClr val="F4A261"/>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3246120" y="1005840"/>
            <a:ext cx="2651760" cy="77724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96%</a:t>
            </a:r>
            <a:endParaRPr lang="en-US" sz="3600" dirty="0"/>
          </a:p>
        </p:txBody>
      </p:sp>
      <p:sp>
        <p:nvSpPr>
          <p:cNvPr id="9" name="Text 7"/>
          <p:cNvSpPr/>
          <p:nvPr/>
        </p:nvSpPr>
        <p:spPr>
          <a:xfrm>
            <a:off x="3246120" y="1783080"/>
            <a:ext cx="2651760" cy="5943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Treatable if caught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before metastasis</a:t>
            </a:r>
            <a:endParaRPr lang="en-US" sz="1100" dirty="0"/>
          </a:p>
        </p:txBody>
      </p:sp>
      <p:sp>
        <p:nvSpPr>
          <p:cNvPr id="10" name="Shape 8"/>
          <p:cNvSpPr/>
          <p:nvPr/>
        </p:nvSpPr>
        <p:spPr>
          <a:xfrm>
            <a:off x="6172200" y="960120"/>
            <a:ext cx="2651760" cy="1508760"/>
          </a:xfrm>
          <a:prstGeom prst="rect">
            <a:avLst/>
          </a:prstGeom>
          <a:solidFill>
            <a:srgbClr val="6B46C1"/>
          </a:solidFill>
          <a:ln w="12700">
            <a:solidFill>
              <a:srgbClr val="6B46C1"/>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6172200" y="1005840"/>
            <a:ext cx="2651760" cy="77724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#1</a:t>
            </a:r>
            <a:endParaRPr lang="en-US" sz="3600" dirty="0"/>
          </a:p>
        </p:txBody>
      </p:sp>
      <p:sp>
        <p:nvSpPr>
          <p:cNvPr id="12" name="Text 10"/>
          <p:cNvSpPr/>
          <p:nvPr/>
        </p:nvSpPr>
        <p:spPr>
          <a:xfrm>
            <a:off x="6172200" y="1783080"/>
            <a:ext cx="2651760" cy="5943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Leading cancer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in women worldwide</a:t>
            </a:r>
            <a:endParaRPr lang="en-US" sz="1100" dirty="0"/>
          </a:p>
        </p:txBody>
      </p:sp>
      <p:sp>
        <p:nvSpPr>
          <p:cNvPr id="13" name="Text 11"/>
          <p:cNvSpPr/>
          <p:nvPr/>
        </p:nvSpPr>
        <p:spPr>
          <a:xfrm>
            <a:off x="365760" y="2651760"/>
            <a:ext cx="8412480" cy="365760"/>
          </a:xfrm>
          <a:prstGeom prst="rect">
            <a:avLst/>
          </a:prstGeom>
          <a:noFill/>
          <a:ln/>
        </p:spPr>
        <p:txBody>
          <a:bodyPr wrap="square" rtlCol="0" anchor="ctr"/>
          <a:lstStyle/>
          <a:p>
            <a:pPr indent="0" marL="0">
              <a:buNone/>
            </a:pPr>
            <a:r>
              <a:rPr lang="en-US" sz="1600" b="1" dirty="0">
                <a:solidFill>
                  <a:srgbClr val="0A1628"/>
                </a:solidFill>
                <a:latin typeface="Cambria" pitchFamily="34" charset="0"/>
                <a:ea typeface="Cambria" pitchFamily="34" charset="-122"/>
                <a:cs typeface="Cambria" pitchFamily="34" charset="-120"/>
              </a:rPr>
              <a:t>Why Thermal Imaging?</a:t>
            </a:r>
            <a:endParaRPr lang="en-US" sz="1600" dirty="0"/>
          </a:p>
        </p:txBody>
      </p:sp>
      <p:sp>
        <p:nvSpPr>
          <p:cNvPr id="14" name="Text 12"/>
          <p:cNvSpPr/>
          <p:nvPr/>
        </p:nvSpPr>
        <p:spPr>
          <a:xfrm>
            <a:off x="365760" y="3063240"/>
            <a:ext cx="8412480" cy="1828800"/>
          </a:xfrm>
          <a:prstGeom prst="rect">
            <a:avLst/>
          </a:prstGeom>
          <a:noFill/>
          <a:ln/>
        </p:spPr>
        <p:txBody>
          <a:bodyPr wrap="square"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Conventional screening (mammography, MRI, CT) carries ionizing radiation, high cost, and patient discomfort</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Reduced sensitivity in dense breast tissue and limited access in low- &amp; middle-income countries (LMICs)</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Digital Infrared Thermal Imaging (DITI): non-invasive, radiation-free, cost-effective complementary modality</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Malignant tumors exhibit heightened metabolic activity → measurable surface temperature anomalies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7377"/>
          </a:solidFill>
          <a:ln w="12700">
            <a:solidFill>
              <a:srgbClr val="0D7377"/>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Biological Basis of Thermal Imaging</a:t>
            </a:r>
            <a:endParaRPr lang="en-US" sz="2400" dirty="0"/>
          </a:p>
        </p:txBody>
      </p:sp>
      <p:sp>
        <p:nvSpPr>
          <p:cNvPr id="4" name="Shape 2"/>
          <p:cNvSpPr/>
          <p:nvPr/>
        </p:nvSpPr>
        <p:spPr>
          <a:xfrm>
            <a:off x="320040" y="960120"/>
            <a:ext cx="4069080" cy="3749040"/>
          </a:xfrm>
          <a:prstGeom prst="rect">
            <a:avLst/>
          </a:prstGeom>
          <a:solidFill>
            <a:srgbClr val="0D2240"/>
          </a:solidFill>
          <a:ln w="12700">
            <a:solidFill>
              <a:srgbClr val="14A9AD"/>
            </a:solidFill>
            <a:prstDash val="solid"/>
          </a:ln>
        </p:spPr>
      </p:sp>
      <p:sp>
        <p:nvSpPr>
          <p:cNvPr id="5" name="Text 3"/>
          <p:cNvSpPr/>
          <p:nvPr/>
        </p:nvSpPr>
        <p:spPr>
          <a:xfrm>
            <a:off x="457200" y="1051560"/>
            <a:ext cx="3749040" cy="411480"/>
          </a:xfrm>
          <a:prstGeom prst="rect">
            <a:avLst/>
          </a:prstGeom>
          <a:noFill/>
          <a:ln/>
        </p:spPr>
        <p:txBody>
          <a:bodyPr wrap="square" rtlCol="0" anchor="ctr"/>
          <a:lstStyle/>
          <a:p>
            <a:pPr indent="0" marL="0">
              <a:buNone/>
            </a:pPr>
            <a:r>
              <a:rPr lang="en-US" sz="1500" b="1" dirty="0">
                <a:solidFill>
                  <a:srgbClr val="32E0C4"/>
                </a:solidFill>
                <a:latin typeface="Cambria" pitchFamily="34" charset="0"/>
                <a:ea typeface="Cambria" pitchFamily="34" charset="-122"/>
                <a:cs typeface="Cambria" pitchFamily="34" charset="-120"/>
              </a:rPr>
              <a:t>Tumor Thermobiology</a:t>
            </a:r>
            <a:endParaRPr lang="en-US" sz="1500" dirty="0"/>
          </a:p>
        </p:txBody>
      </p:sp>
      <p:sp>
        <p:nvSpPr>
          <p:cNvPr id="6" name="Text 4"/>
          <p:cNvSpPr/>
          <p:nvPr/>
        </p:nvSpPr>
        <p:spPr>
          <a:xfrm>
            <a:off x="457200" y="1508760"/>
            <a:ext cx="3840480" cy="3017520"/>
          </a:xfrm>
          <a:prstGeom prst="rect">
            <a:avLst/>
          </a:prstGeom>
          <a:noFill/>
          <a:ln/>
        </p:spPr>
        <p:txBody>
          <a:bodyPr wrap="square" rtlCol="0" anchor="ctr"/>
          <a:lstStyle/>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Cancer cells: uncontrolled proliferation + elevated metabolic rates → excess heat</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Pennes bioheat transfer equation relates temperature to metabolic heat generation, blood perfusion, and thermal conductivity</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Angiogenesis: VEGF-driven new blood vessel growth → increased vascularity → higher local temperatures</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Thermal asymmetries of 1–3°C detectable even before tumor is palpable</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Thermography can theoretically detect tumors at very early stages</a:t>
            </a:r>
            <a:endParaRPr lang="en-US" sz="1150" dirty="0"/>
          </a:p>
        </p:txBody>
      </p:sp>
      <p:sp>
        <p:nvSpPr>
          <p:cNvPr id="7" name="Shape 5"/>
          <p:cNvSpPr/>
          <p:nvPr/>
        </p:nvSpPr>
        <p:spPr>
          <a:xfrm>
            <a:off x="4754880" y="960120"/>
            <a:ext cx="4069080" cy="3749040"/>
          </a:xfrm>
          <a:prstGeom prst="rect">
            <a:avLst/>
          </a:prstGeom>
          <a:solidFill>
            <a:srgbClr val="0D2240"/>
          </a:solidFill>
          <a:ln w="12700">
            <a:solidFill>
              <a:srgbClr val="F4A261"/>
            </a:solidFill>
            <a:prstDash val="solid"/>
          </a:ln>
        </p:spPr>
      </p:sp>
      <p:sp>
        <p:nvSpPr>
          <p:cNvPr id="8" name="Text 6"/>
          <p:cNvSpPr/>
          <p:nvPr/>
        </p:nvSpPr>
        <p:spPr>
          <a:xfrm>
            <a:off x="4892040" y="1051560"/>
            <a:ext cx="3749040" cy="411480"/>
          </a:xfrm>
          <a:prstGeom prst="rect">
            <a:avLst/>
          </a:prstGeom>
          <a:noFill/>
          <a:ln/>
        </p:spPr>
        <p:txBody>
          <a:bodyPr wrap="square" rtlCol="0" anchor="ctr"/>
          <a:lstStyle/>
          <a:p>
            <a:pPr indent="0" marL="0">
              <a:buNone/>
            </a:pPr>
            <a:r>
              <a:rPr lang="en-US" sz="1500" b="1" dirty="0">
                <a:solidFill>
                  <a:srgbClr val="F4A261"/>
                </a:solidFill>
                <a:latin typeface="Cambria" pitchFamily="34" charset="0"/>
                <a:ea typeface="Cambria" pitchFamily="34" charset="-122"/>
                <a:cs typeface="Cambria" pitchFamily="34" charset="-120"/>
              </a:rPr>
              <a:t>Thermal Signatures by Cancer Type</a:t>
            </a:r>
            <a:endParaRPr lang="en-US" sz="1500" dirty="0"/>
          </a:p>
        </p:txBody>
      </p:sp>
      <p:sp>
        <p:nvSpPr>
          <p:cNvPr id="9" name="Text 7"/>
          <p:cNvSpPr/>
          <p:nvPr/>
        </p:nvSpPr>
        <p:spPr>
          <a:xfrm>
            <a:off x="4892040" y="1508760"/>
            <a:ext cx="3840480" cy="3017520"/>
          </a:xfrm>
          <a:prstGeom prst="rect">
            <a:avLst/>
          </a:prstGeom>
          <a:noFill/>
          <a:ln/>
        </p:spPr>
        <p:txBody>
          <a:bodyPr wrap="square" rtlCol="0" anchor="ctr"/>
          <a:lstStyle/>
          <a:p>
            <a:pPr indent="0" marL="0">
              <a:buNone/>
            </a:pPr>
            <a:r>
              <a:rPr lang="en-US" sz="1200" b="1" dirty="0">
                <a:solidFill>
                  <a:srgbClr val="32E0C4"/>
                </a:solidFill>
                <a:latin typeface="Calibri" pitchFamily="34" charset="0"/>
                <a:ea typeface="Calibri" pitchFamily="34" charset="-122"/>
                <a:cs typeface="Calibri" pitchFamily="34" charset="-120"/>
              </a:rPr>
              <a:t xml:space="preserve">Breast Cancer: </a:t>
            </a:r>
            <a:pPr indent="0" marL="0">
              <a:spcAft>
                <a:spcPts val="800"/>
              </a:spcAft>
              <a:buNone/>
            </a:pPr>
            <a:r>
              <a:rPr lang="en-US" sz="1150" dirty="0">
                <a:solidFill>
                  <a:srgbClr val="F0F4F8"/>
                </a:solidFill>
                <a:latin typeface="Calibri" pitchFamily="34" charset="0"/>
                <a:ea typeface="Calibri" pitchFamily="34" charset="-122"/>
                <a:cs typeface="Calibri" pitchFamily="34" charset="-120"/>
              </a:rPr>
              <a:t>Anterior chest thermal asymmetries; malignant areas appear as elevated temp regions</a:t>
            </a:r>
            <a:endParaRPr lang="en-US" sz="1200" dirty="0"/>
          </a:p>
          <a:p>
            <a:pPr indent="0" marL="0">
              <a:buNone/>
            </a:pPr>
            <a:r>
              <a:rPr lang="en-US" sz="1200" b="1" dirty="0">
                <a:solidFill>
                  <a:srgbClr val="32E0C4"/>
                </a:solidFill>
                <a:latin typeface="Calibri" pitchFamily="34" charset="0"/>
                <a:ea typeface="Calibri" pitchFamily="34" charset="-122"/>
                <a:cs typeface="Calibri" pitchFamily="34" charset="-120"/>
              </a:rPr>
              <a:t xml:space="preserve">Thyroid Cancer: </a:t>
            </a:r>
            <a:pPr indent="0" marL="0">
              <a:spcAft>
                <a:spcPts val="800"/>
              </a:spcAft>
              <a:buNone/>
            </a:pPr>
            <a:r>
              <a:rPr lang="en-US" sz="1150" dirty="0">
                <a:solidFill>
                  <a:srgbClr val="F0F4F8"/>
                </a:solidFill>
                <a:latin typeface="Calibri" pitchFamily="34" charset="0"/>
                <a:ea typeface="Calibri" pitchFamily="34" charset="-122"/>
                <a:cs typeface="Calibri" pitchFamily="34" charset="-120"/>
              </a:rPr>
              <a:t>Increased intranodular vascularity → elevated skin temp over anterior neck</a:t>
            </a:r>
            <a:endParaRPr lang="en-US" sz="1200" dirty="0"/>
          </a:p>
          <a:p>
            <a:pPr indent="0" marL="0">
              <a:buNone/>
            </a:pPr>
            <a:r>
              <a:rPr lang="en-US" sz="1200" b="1" dirty="0">
                <a:solidFill>
                  <a:srgbClr val="32E0C4"/>
                </a:solidFill>
                <a:latin typeface="Calibri" pitchFamily="34" charset="0"/>
                <a:ea typeface="Calibri" pitchFamily="34" charset="-122"/>
                <a:cs typeface="Calibri" pitchFamily="34" charset="-120"/>
              </a:rPr>
              <a:t xml:space="preserve">Skin Cancers: </a:t>
            </a:r>
            <a:pPr indent="0" marL="0">
              <a:spcAft>
                <a:spcPts val="800"/>
              </a:spcAft>
              <a:buNone/>
            </a:pPr>
            <a:r>
              <a:rPr lang="en-US" sz="1150" dirty="0">
                <a:solidFill>
                  <a:srgbClr val="F0F4F8"/>
                </a:solidFill>
                <a:latin typeface="Calibri" pitchFamily="34" charset="0"/>
                <a:ea typeface="Calibri" pitchFamily="34" charset="-122"/>
                <a:cs typeface="Calibri" pitchFamily="34" charset="-120"/>
              </a:rPr>
              <a:t>Localized thermal elevations directly on skin surface (melanoma, BCC)</a:t>
            </a:r>
            <a:endParaRPr lang="en-US" sz="1200" dirty="0"/>
          </a:p>
          <a:p>
            <a:pPr indent="0" marL="0">
              <a:buNone/>
            </a:pPr>
            <a:r>
              <a:rPr lang="en-US" sz="1200" b="1" dirty="0">
                <a:solidFill>
                  <a:srgbClr val="32E0C4"/>
                </a:solidFill>
                <a:latin typeface="Calibri" pitchFamily="34" charset="0"/>
                <a:ea typeface="Calibri" pitchFamily="34" charset="-122"/>
                <a:cs typeface="Calibri" pitchFamily="34" charset="-120"/>
              </a:rPr>
              <a:t xml:space="preserve">Brain &amp; Rectal: </a:t>
            </a:r>
            <a:pPr indent="0" marL="0">
              <a:spcAft>
                <a:spcPts val="800"/>
              </a:spcAft>
              <a:buNone/>
            </a:pPr>
            <a:r>
              <a:rPr lang="en-US" sz="1150" dirty="0">
                <a:solidFill>
                  <a:srgbClr val="F0F4F8"/>
                </a:solidFill>
                <a:latin typeface="Calibri" pitchFamily="34" charset="0"/>
                <a:ea typeface="Calibri" pitchFamily="34" charset="-122"/>
                <a:cs typeface="Calibri" pitchFamily="34" charset="-120"/>
              </a:rPr>
              <a:t>Greater technical complexity due to depth and anatomical barriers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Medical Thermal Imaging Technologies</a:t>
            </a:r>
            <a:endParaRPr lang="en-US" sz="2400" dirty="0"/>
          </a:p>
        </p:txBody>
      </p:sp>
      <p:sp>
        <p:nvSpPr>
          <p:cNvPr id="4" name="Shape 2"/>
          <p:cNvSpPr/>
          <p:nvPr/>
        </p:nvSpPr>
        <p:spPr>
          <a:xfrm>
            <a:off x="274320" y="960120"/>
            <a:ext cx="2743200" cy="1691640"/>
          </a:xfrm>
          <a:prstGeom prst="rect">
            <a:avLst/>
          </a:prstGeom>
          <a:solidFill>
            <a:srgbClr val="FFFFFF"/>
          </a:solidFill>
          <a:ln w="12700">
            <a:solidFill>
              <a:srgbClr val="0D7377"/>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274320" y="960120"/>
            <a:ext cx="2743200" cy="54864"/>
          </a:xfrm>
          <a:prstGeom prst="rect">
            <a:avLst/>
          </a:prstGeom>
          <a:solidFill>
            <a:srgbClr val="0D7377"/>
          </a:solidFill>
          <a:ln w="12700">
            <a:solidFill>
              <a:srgbClr val="0D7377"/>
            </a:solidFill>
            <a:prstDash val="solid"/>
          </a:ln>
        </p:spPr>
      </p:sp>
      <p:sp>
        <p:nvSpPr>
          <p:cNvPr id="6" name="Text 4"/>
          <p:cNvSpPr/>
          <p:nvPr/>
        </p:nvSpPr>
        <p:spPr>
          <a:xfrm>
            <a:off x="384048" y="1051560"/>
            <a:ext cx="2523744" cy="347472"/>
          </a:xfrm>
          <a:prstGeom prst="rect">
            <a:avLst/>
          </a:prstGeom>
          <a:noFill/>
          <a:ln/>
        </p:spPr>
        <p:txBody>
          <a:bodyPr wrap="square" rtlCol="0" anchor="ctr"/>
          <a:lstStyle/>
          <a:p>
            <a:pPr indent="0" marL="0">
              <a:buNone/>
            </a:pPr>
            <a:r>
              <a:rPr lang="en-US" sz="1250" b="1" dirty="0">
                <a:solidFill>
                  <a:srgbClr val="0D7377"/>
                </a:solidFill>
                <a:latin typeface="Cambria" pitchFamily="34" charset="0"/>
                <a:ea typeface="Cambria" pitchFamily="34" charset="-122"/>
                <a:cs typeface="Cambria" pitchFamily="34" charset="-120"/>
              </a:rPr>
              <a:t>Passive (Static) IR</a:t>
            </a:r>
            <a:endParaRPr lang="en-US" sz="1250" dirty="0"/>
          </a:p>
        </p:txBody>
      </p:sp>
      <p:sp>
        <p:nvSpPr>
          <p:cNvPr id="7" name="Text 5"/>
          <p:cNvSpPr/>
          <p:nvPr/>
        </p:nvSpPr>
        <p:spPr>
          <a:xfrm>
            <a:off x="384048" y="141732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Detects natural body heat. FLIR SC-620 at 640×480px with &lt;0.05°C sensitivity. Prone positioning for multi-angle breast imaging.</a:t>
            </a:r>
            <a:endParaRPr lang="en-US" sz="1050" dirty="0"/>
          </a:p>
        </p:txBody>
      </p:sp>
      <p:sp>
        <p:nvSpPr>
          <p:cNvPr id="8" name="Shape 6"/>
          <p:cNvSpPr/>
          <p:nvPr/>
        </p:nvSpPr>
        <p:spPr>
          <a:xfrm>
            <a:off x="3200400" y="960120"/>
            <a:ext cx="2743200" cy="1691640"/>
          </a:xfrm>
          <a:prstGeom prst="rect">
            <a:avLst/>
          </a:prstGeom>
          <a:solidFill>
            <a:srgbClr val="FFFFFF"/>
          </a:solidFill>
          <a:ln w="12700">
            <a:solidFill>
              <a:srgbClr val="6B46C1"/>
            </a:solidFill>
            <a:prstDash val="solid"/>
          </a:ln>
          <a:effectLst>
            <a:outerShdw sx="100000" sy="100000" kx="0" ky="0" algn="bl" rotWithShape="0" blurRad="76200" dist="25400" dir="8100000">
              <a:srgbClr val="000000">
                <a:alpha val="10000"/>
              </a:srgbClr>
            </a:outerShdw>
          </a:effectLst>
        </p:spPr>
      </p:sp>
      <p:sp>
        <p:nvSpPr>
          <p:cNvPr id="9" name="Shape 7"/>
          <p:cNvSpPr/>
          <p:nvPr/>
        </p:nvSpPr>
        <p:spPr>
          <a:xfrm>
            <a:off x="3200400" y="960120"/>
            <a:ext cx="2743200" cy="54864"/>
          </a:xfrm>
          <a:prstGeom prst="rect">
            <a:avLst/>
          </a:prstGeom>
          <a:solidFill>
            <a:srgbClr val="6B46C1"/>
          </a:solidFill>
          <a:ln w="12700">
            <a:solidFill>
              <a:srgbClr val="6B46C1"/>
            </a:solidFill>
            <a:prstDash val="solid"/>
          </a:ln>
        </p:spPr>
      </p:sp>
      <p:sp>
        <p:nvSpPr>
          <p:cNvPr id="10" name="Text 8"/>
          <p:cNvSpPr/>
          <p:nvPr/>
        </p:nvSpPr>
        <p:spPr>
          <a:xfrm>
            <a:off x="3310128" y="1051560"/>
            <a:ext cx="2523744" cy="347472"/>
          </a:xfrm>
          <a:prstGeom prst="rect">
            <a:avLst/>
          </a:prstGeom>
          <a:noFill/>
          <a:ln/>
        </p:spPr>
        <p:txBody>
          <a:bodyPr wrap="square" rtlCol="0" anchor="ctr"/>
          <a:lstStyle/>
          <a:p>
            <a:pPr indent="0" marL="0">
              <a:buNone/>
            </a:pPr>
            <a:r>
              <a:rPr lang="en-US" sz="1250" b="1" dirty="0">
                <a:solidFill>
                  <a:srgbClr val="6B46C1"/>
                </a:solidFill>
                <a:latin typeface="Cambria" pitchFamily="34" charset="0"/>
                <a:ea typeface="Cambria" pitchFamily="34" charset="-122"/>
                <a:cs typeface="Cambria" pitchFamily="34" charset="-120"/>
              </a:rPr>
              <a:t>Dynamic (Active)</a:t>
            </a:r>
            <a:endParaRPr lang="en-US" sz="1250" dirty="0"/>
          </a:p>
        </p:txBody>
      </p:sp>
      <p:sp>
        <p:nvSpPr>
          <p:cNvPr id="11" name="Text 9"/>
          <p:cNvSpPr/>
          <p:nvPr/>
        </p:nvSpPr>
        <p:spPr>
          <a:xfrm>
            <a:off x="3310128" y="141732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Applies cooling/heating stimulus then tracks tissue thermal response. Cancerous regions show faster thermal recovery due to higher vascularization.</a:t>
            </a:r>
            <a:endParaRPr lang="en-US" sz="1050" dirty="0"/>
          </a:p>
        </p:txBody>
      </p:sp>
      <p:sp>
        <p:nvSpPr>
          <p:cNvPr id="12" name="Shape 10"/>
          <p:cNvSpPr/>
          <p:nvPr/>
        </p:nvSpPr>
        <p:spPr>
          <a:xfrm>
            <a:off x="6126480" y="960120"/>
            <a:ext cx="2743200" cy="1691640"/>
          </a:xfrm>
          <a:prstGeom prst="rect">
            <a:avLst/>
          </a:prstGeom>
          <a:solidFill>
            <a:srgbClr val="FFFFFF"/>
          </a:solidFill>
          <a:ln w="12700">
            <a:solidFill>
              <a:srgbClr val="F4A261"/>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6126480" y="960120"/>
            <a:ext cx="2743200" cy="54864"/>
          </a:xfrm>
          <a:prstGeom prst="rect">
            <a:avLst/>
          </a:prstGeom>
          <a:solidFill>
            <a:srgbClr val="F4A261"/>
          </a:solidFill>
          <a:ln w="12700">
            <a:solidFill>
              <a:srgbClr val="F4A261"/>
            </a:solidFill>
            <a:prstDash val="solid"/>
          </a:ln>
        </p:spPr>
      </p:sp>
      <p:sp>
        <p:nvSpPr>
          <p:cNvPr id="14" name="Text 12"/>
          <p:cNvSpPr/>
          <p:nvPr/>
        </p:nvSpPr>
        <p:spPr>
          <a:xfrm>
            <a:off x="6236208" y="1051560"/>
            <a:ext cx="2523744" cy="347472"/>
          </a:xfrm>
          <a:prstGeom prst="rect">
            <a:avLst/>
          </a:prstGeom>
          <a:noFill/>
          <a:ln/>
        </p:spPr>
        <p:txBody>
          <a:bodyPr wrap="square" rtlCol="0" anchor="ctr"/>
          <a:lstStyle/>
          <a:p>
            <a:pPr indent="0" marL="0">
              <a:buNone/>
            </a:pPr>
            <a:r>
              <a:rPr lang="en-US" sz="1250" b="1" dirty="0">
                <a:solidFill>
                  <a:srgbClr val="F4A261"/>
                </a:solidFill>
                <a:latin typeface="Cambria" pitchFamily="34" charset="0"/>
                <a:ea typeface="Cambria" pitchFamily="34" charset="-122"/>
                <a:cs typeface="Cambria" pitchFamily="34" charset="-120"/>
              </a:rPr>
              <a:t>Lock-in (LIT)</a:t>
            </a:r>
            <a:endParaRPr lang="en-US" sz="1250" dirty="0"/>
          </a:p>
        </p:txBody>
      </p:sp>
      <p:sp>
        <p:nvSpPr>
          <p:cNvPr id="15" name="Text 13"/>
          <p:cNvSpPr/>
          <p:nvPr/>
        </p:nvSpPr>
        <p:spPr>
          <a:xfrm>
            <a:off x="6236208" y="141732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Periodic modulated heat + lock-in detection algorithms. Significantly enhances signal-to-noise ratio for skin cancer depth assessment.</a:t>
            </a:r>
            <a:endParaRPr lang="en-US" sz="1050" dirty="0"/>
          </a:p>
        </p:txBody>
      </p:sp>
      <p:sp>
        <p:nvSpPr>
          <p:cNvPr id="16" name="Shape 14"/>
          <p:cNvSpPr/>
          <p:nvPr/>
        </p:nvSpPr>
        <p:spPr>
          <a:xfrm>
            <a:off x="274320" y="2880360"/>
            <a:ext cx="2743200" cy="1691640"/>
          </a:xfrm>
          <a:prstGeom prst="rect">
            <a:avLst/>
          </a:prstGeom>
          <a:solidFill>
            <a:srgbClr val="FFFFFF"/>
          </a:solidFill>
          <a:ln w="12700">
            <a:solidFill>
              <a:srgbClr val="E53E3E"/>
            </a:solidFill>
            <a:prstDash val="solid"/>
          </a:ln>
          <a:effectLst>
            <a:outerShdw sx="100000" sy="100000" kx="0" ky="0" algn="bl" rotWithShape="0" blurRad="76200" dist="25400" dir="8100000">
              <a:srgbClr val="000000">
                <a:alpha val="10000"/>
              </a:srgbClr>
            </a:outerShdw>
          </a:effectLst>
        </p:spPr>
      </p:sp>
      <p:sp>
        <p:nvSpPr>
          <p:cNvPr id="17" name="Shape 15"/>
          <p:cNvSpPr/>
          <p:nvPr/>
        </p:nvSpPr>
        <p:spPr>
          <a:xfrm>
            <a:off x="274320" y="2880360"/>
            <a:ext cx="2743200" cy="54864"/>
          </a:xfrm>
          <a:prstGeom prst="rect">
            <a:avLst/>
          </a:prstGeom>
          <a:solidFill>
            <a:srgbClr val="E53E3E"/>
          </a:solidFill>
          <a:ln w="12700">
            <a:solidFill>
              <a:srgbClr val="E53E3E"/>
            </a:solidFill>
            <a:prstDash val="solid"/>
          </a:ln>
        </p:spPr>
      </p:sp>
      <p:sp>
        <p:nvSpPr>
          <p:cNvPr id="18" name="Text 16"/>
          <p:cNvSpPr/>
          <p:nvPr/>
        </p:nvSpPr>
        <p:spPr>
          <a:xfrm>
            <a:off x="384048" y="2971800"/>
            <a:ext cx="2523744" cy="347472"/>
          </a:xfrm>
          <a:prstGeom prst="rect">
            <a:avLst/>
          </a:prstGeom>
          <a:noFill/>
          <a:ln/>
        </p:spPr>
        <p:txBody>
          <a:bodyPr wrap="square" rtlCol="0" anchor="ctr"/>
          <a:lstStyle/>
          <a:p>
            <a:pPr indent="0" marL="0">
              <a:buNone/>
            </a:pPr>
            <a:r>
              <a:rPr lang="en-US" sz="1250" b="1" dirty="0">
                <a:solidFill>
                  <a:srgbClr val="E53E3E"/>
                </a:solidFill>
                <a:latin typeface="Cambria" pitchFamily="34" charset="0"/>
                <a:ea typeface="Cambria" pitchFamily="34" charset="-122"/>
                <a:cs typeface="Cambria" pitchFamily="34" charset="-120"/>
              </a:rPr>
              <a:t>Rotational Breast (RBT)</a:t>
            </a:r>
            <a:endParaRPr lang="en-US" sz="1250" dirty="0"/>
          </a:p>
        </p:txBody>
      </p:sp>
      <p:sp>
        <p:nvSpPr>
          <p:cNvPr id="19" name="Text 17"/>
          <p:cNvSpPr/>
          <p:nvPr/>
        </p:nvSpPr>
        <p:spPr>
          <a:xfrm>
            <a:off x="384048" y="333756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Camera rotates around patient capturing 3D thermal information. Multi-angle comprehensive breast coverage.</a:t>
            </a:r>
            <a:endParaRPr lang="en-US" sz="1050" dirty="0"/>
          </a:p>
        </p:txBody>
      </p:sp>
      <p:sp>
        <p:nvSpPr>
          <p:cNvPr id="20" name="Shape 18"/>
          <p:cNvSpPr/>
          <p:nvPr/>
        </p:nvSpPr>
        <p:spPr>
          <a:xfrm>
            <a:off x="3200400" y="2880360"/>
            <a:ext cx="2743200" cy="1691640"/>
          </a:xfrm>
          <a:prstGeom prst="rect">
            <a:avLst/>
          </a:prstGeom>
          <a:solidFill>
            <a:srgbClr val="FFFFFF"/>
          </a:solidFill>
          <a:ln w="12700">
            <a:solidFill>
              <a:srgbClr val="14A9AD"/>
            </a:solidFill>
            <a:prstDash val="solid"/>
          </a:ln>
          <a:effectLst>
            <a:outerShdw sx="100000" sy="100000" kx="0" ky="0" algn="bl" rotWithShape="0" blurRad="76200" dist="25400" dir="8100000">
              <a:srgbClr val="000000">
                <a:alpha val="10000"/>
              </a:srgbClr>
            </a:outerShdw>
          </a:effectLst>
        </p:spPr>
      </p:sp>
      <p:sp>
        <p:nvSpPr>
          <p:cNvPr id="21" name="Shape 19"/>
          <p:cNvSpPr/>
          <p:nvPr/>
        </p:nvSpPr>
        <p:spPr>
          <a:xfrm>
            <a:off x="3200400" y="2880360"/>
            <a:ext cx="2743200" cy="54864"/>
          </a:xfrm>
          <a:prstGeom prst="rect">
            <a:avLst/>
          </a:prstGeom>
          <a:solidFill>
            <a:srgbClr val="14A9AD"/>
          </a:solidFill>
          <a:ln w="12700">
            <a:solidFill>
              <a:srgbClr val="14A9AD"/>
            </a:solidFill>
            <a:prstDash val="solid"/>
          </a:ln>
        </p:spPr>
      </p:sp>
      <p:sp>
        <p:nvSpPr>
          <p:cNvPr id="22" name="Text 20"/>
          <p:cNvSpPr/>
          <p:nvPr/>
        </p:nvSpPr>
        <p:spPr>
          <a:xfrm>
            <a:off x="3310128" y="2971800"/>
            <a:ext cx="2523744" cy="347472"/>
          </a:xfrm>
          <a:prstGeom prst="rect">
            <a:avLst/>
          </a:prstGeom>
          <a:noFill/>
          <a:ln/>
        </p:spPr>
        <p:txBody>
          <a:bodyPr wrap="square" rtlCol="0" anchor="ctr"/>
          <a:lstStyle/>
          <a:p>
            <a:pPr indent="0" marL="0">
              <a:buNone/>
            </a:pPr>
            <a:r>
              <a:rPr lang="en-US" sz="1250" b="1" dirty="0">
                <a:solidFill>
                  <a:srgbClr val="14A9AD"/>
                </a:solidFill>
                <a:latin typeface="Cambria" pitchFamily="34" charset="0"/>
                <a:ea typeface="Cambria" pitchFamily="34" charset="-122"/>
                <a:cs typeface="Cambria" pitchFamily="34" charset="-120"/>
              </a:rPr>
              <a:t>Endoscopy (ITME)</a:t>
            </a:r>
            <a:endParaRPr lang="en-US" sz="1250" dirty="0"/>
          </a:p>
        </p:txBody>
      </p:sp>
      <p:sp>
        <p:nvSpPr>
          <p:cNvPr id="23" name="Text 21"/>
          <p:cNvSpPr/>
          <p:nvPr/>
        </p:nvSpPr>
        <p:spPr>
          <a:xfrm>
            <a:off x="3310128" y="333756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Label-free internal tumor detection using anti-reflection Ge lenses. Preclinical rectal tumor detection in mouse models validated.</a:t>
            </a:r>
            <a:endParaRPr lang="en-US" sz="1050" dirty="0"/>
          </a:p>
        </p:txBody>
      </p:sp>
      <p:sp>
        <p:nvSpPr>
          <p:cNvPr id="24" name="Shape 22"/>
          <p:cNvSpPr/>
          <p:nvPr/>
        </p:nvSpPr>
        <p:spPr>
          <a:xfrm>
            <a:off x="6126480" y="2880360"/>
            <a:ext cx="2743200" cy="1691640"/>
          </a:xfrm>
          <a:prstGeom prst="rect">
            <a:avLst/>
          </a:prstGeom>
          <a:solidFill>
            <a:srgbClr val="FFFFFF"/>
          </a:solidFill>
          <a:ln w="12700">
            <a:solidFill>
              <a:srgbClr val="2F855A"/>
            </a:solidFill>
            <a:prstDash val="solid"/>
          </a:ln>
          <a:effectLst>
            <a:outerShdw sx="100000" sy="100000" kx="0" ky="0" algn="bl" rotWithShape="0" blurRad="76200" dist="25400" dir="8100000">
              <a:srgbClr val="000000">
                <a:alpha val="10000"/>
              </a:srgbClr>
            </a:outerShdw>
          </a:effectLst>
        </p:spPr>
      </p:sp>
      <p:sp>
        <p:nvSpPr>
          <p:cNvPr id="25" name="Shape 23"/>
          <p:cNvSpPr/>
          <p:nvPr/>
        </p:nvSpPr>
        <p:spPr>
          <a:xfrm>
            <a:off x="6126480" y="2880360"/>
            <a:ext cx="2743200" cy="54864"/>
          </a:xfrm>
          <a:prstGeom prst="rect">
            <a:avLst/>
          </a:prstGeom>
          <a:solidFill>
            <a:srgbClr val="2F855A"/>
          </a:solidFill>
          <a:ln w="12700">
            <a:solidFill>
              <a:srgbClr val="2F855A"/>
            </a:solidFill>
            <a:prstDash val="solid"/>
          </a:ln>
        </p:spPr>
      </p:sp>
      <p:sp>
        <p:nvSpPr>
          <p:cNvPr id="26" name="Text 24"/>
          <p:cNvSpPr/>
          <p:nvPr/>
        </p:nvSpPr>
        <p:spPr>
          <a:xfrm>
            <a:off x="6236208" y="2971800"/>
            <a:ext cx="2523744" cy="347472"/>
          </a:xfrm>
          <a:prstGeom prst="rect">
            <a:avLst/>
          </a:prstGeom>
          <a:noFill/>
          <a:ln/>
        </p:spPr>
        <p:txBody>
          <a:bodyPr wrap="square" rtlCol="0" anchor="ctr"/>
          <a:lstStyle/>
          <a:p>
            <a:pPr indent="0" marL="0">
              <a:buNone/>
            </a:pPr>
            <a:r>
              <a:rPr lang="en-US" sz="1250" b="1" dirty="0">
                <a:solidFill>
                  <a:srgbClr val="2F855A"/>
                </a:solidFill>
                <a:latin typeface="Cambria" pitchFamily="34" charset="0"/>
                <a:ea typeface="Cambria" pitchFamily="34" charset="-122"/>
                <a:cs typeface="Cambria" pitchFamily="34" charset="-120"/>
              </a:rPr>
              <a:t>ICET Imaging</a:t>
            </a:r>
            <a:endParaRPr lang="en-US" sz="1250" dirty="0"/>
          </a:p>
        </p:txBody>
      </p:sp>
      <p:sp>
        <p:nvSpPr>
          <p:cNvPr id="27" name="Text 25"/>
          <p:cNvSpPr/>
          <p:nvPr/>
        </p:nvSpPr>
        <p:spPr>
          <a:xfrm>
            <a:off x="6236208" y="3337560"/>
            <a:ext cx="2523744" cy="1143000"/>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Magnetically induced currents exploit 2.5× higher tumor electrical conductivity. Improves deep lesion detection by 4mm sensitivity.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7377"/>
          </a:solidFill>
          <a:ln w="12700">
            <a:solidFill>
              <a:srgbClr val="0D7377"/>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Emerging Access Technologies</a:t>
            </a:r>
            <a:endParaRPr lang="en-US" sz="2400" dirty="0"/>
          </a:p>
        </p:txBody>
      </p:sp>
      <p:pic>
        <p:nvPicPr>
          <p:cNvPr id="4" name="Image 0" descr="preencoded.png"/>
          <p:cNvPicPr>
            <a:picLocks noChangeAspect="1"/>
          </p:cNvPicPr>
          <p:nvPr/>
        </p:nvPicPr>
        <p:blipFill>
          <a:blip r:embed="rId1"/>
          <a:stretch>
            <a:fillRect/>
          </a:stretch>
        </p:blipFill>
        <p:spPr>
          <a:xfrm>
            <a:off x="457200" y="1051560"/>
            <a:ext cx="640080" cy="640080"/>
          </a:xfrm>
          <a:prstGeom prst="rect">
            <a:avLst/>
          </a:prstGeom>
        </p:spPr>
      </p:pic>
      <p:sp>
        <p:nvSpPr>
          <p:cNvPr id="5" name="Text 2"/>
          <p:cNvSpPr/>
          <p:nvPr/>
        </p:nvSpPr>
        <p:spPr>
          <a:xfrm>
            <a:off x="1234440" y="1097280"/>
            <a:ext cx="7589520" cy="502920"/>
          </a:xfrm>
          <a:prstGeom prst="rect">
            <a:avLst/>
          </a:prstGeom>
          <a:noFill/>
          <a:ln/>
        </p:spPr>
        <p:txBody>
          <a:bodyPr wrap="square" rtlCol="0" anchor="ctr"/>
          <a:lstStyle/>
          <a:p>
            <a:pPr indent="0" marL="0">
              <a:buNone/>
            </a:pPr>
            <a:r>
              <a:rPr lang="en-US" sz="1800" b="1" dirty="0">
                <a:solidFill>
                  <a:srgbClr val="32E0C4"/>
                </a:solidFill>
                <a:latin typeface="Cambria" pitchFamily="34" charset="0"/>
                <a:ea typeface="Cambria" pitchFamily="34" charset="-122"/>
                <a:cs typeface="Cambria" pitchFamily="34" charset="-120"/>
              </a:rPr>
              <a:t>Smartphone-Based Thermal Imaging</a:t>
            </a:r>
            <a:endParaRPr lang="en-US" sz="1800" dirty="0"/>
          </a:p>
        </p:txBody>
      </p:sp>
      <p:sp>
        <p:nvSpPr>
          <p:cNvPr id="6" name="Shape 3"/>
          <p:cNvSpPr/>
          <p:nvPr/>
        </p:nvSpPr>
        <p:spPr>
          <a:xfrm>
            <a:off x="365760" y="1783080"/>
            <a:ext cx="8412480" cy="1417320"/>
          </a:xfrm>
          <a:prstGeom prst="rect">
            <a:avLst/>
          </a:prstGeom>
          <a:solidFill>
            <a:srgbClr val="0D2240"/>
          </a:solidFill>
          <a:ln w="12700">
            <a:solidFill>
              <a:srgbClr val="32E0C4"/>
            </a:solidFill>
            <a:prstDash val="solid"/>
          </a:ln>
        </p:spPr>
      </p:sp>
      <p:sp>
        <p:nvSpPr>
          <p:cNvPr id="7" name="Text 4"/>
          <p:cNvSpPr/>
          <p:nvPr/>
        </p:nvSpPr>
        <p:spPr>
          <a:xfrm>
            <a:off x="502920" y="1828800"/>
            <a:ext cx="8138160" cy="1325880"/>
          </a:xfrm>
          <a:prstGeom prst="rect">
            <a:avLst/>
          </a:prstGeom>
          <a:noFill/>
          <a:ln/>
        </p:spPr>
        <p:txBody>
          <a:bodyPr wrap="square" rtlCol="0" anchor="ctr"/>
          <a:lstStyle/>
          <a:p>
            <a:pPr indent="0" marL="0">
              <a:buNone/>
            </a:pPr>
            <a:r>
              <a:rPr lang="en-US" sz="1200" b="1" dirty="0">
                <a:solidFill>
                  <a:srgbClr val="32E0C4"/>
                </a:solidFill>
                <a:latin typeface="Calibri" pitchFamily="34" charset="0"/>
                <a:ea typeface="Calibri" pitchFamily="34" charset="-122"/>
                <a:cs typeface="Calibri" pitchFamily="34" charset="-120"/>
              </a:rPr>
              <a:t>FLIR One Pro</a:t>
            </a:r>
            <a:pPr indent="0" marL="0">
              <a:buNone/>
            </a:pPr>
            <a:r>
              <a:rPr lang="en-US" sz="1200" dirty="0">
                <a:solidFill>
                  <a:srgbClr val="F0F4F8"/>
                </a:solidFill>
                <a:latin typeface="Calibri" pitchFamily="34" charset="0"/>
                <a:ea typeface="Calibri" pitchFamily="34" charset="-122"/>
                <a:cs typeface="Calibri" pitchFamily="34" charset="-120"/>
              </a:rPr>
              <a:t xml:space="preserve"> — Smartphone-attachable thermal sensor enabling resource-limited clinical settings
</a:t>
            </a:r>
            <a:pPr indent="0" marL="0">
              <a:buNone/>
            </a:pPr>
            <a:r>
              <a:rPr lang="en-US" sz="1200" b="1" dirty="0">
                <a:solidFill>
                  <a:srgbClr val="32E0C4"/>
                </a:solidFill>
                <a:latin typeface="Calibri" pitchFamily="34" charset="0"/>
                <a:ea typeface="Calibri" pitchFamily="34" charset="-122"/>
                <a:cs typeface="Calibri" pitchFamily="34" charset="-120"/>
              </a:rPr>
              <a:t>AI-powered Breast Cancer Pre-Screening Solution (BCPS)</a:t>
            </a:r>
            <a:pPr indent="0" marL="0">
              <a:buNone/>
            </a:pPr>
            <a:r>
              <a:rPr lang="en-US" sz="1200" dirty="0">
                <a:solidFill>
                  <a:srgbClr val="F0F4F8"/>
                </a:solidFill>
                <a:latin typeface="Calibri" pitchFamily="34" charset="0"/>
                <a:ea typeface="Calibri" pitchFamily="34" charset="-122"/>
                <a:cs typeface="Calibri" pitchFamily="34" charset="-120"/>
              </a:rPr>
              <a:t xml:space="preserve"> demonstrated comparable performance to mammography in first-pass screening
</a:t>
            </a:r>
            <a:pPr indent="0" marL="0">
              <a:buNone/>
            </a:pPr>
            <a:r>
              <a:rPr lang="en-US" sz="1200" b="1" dirty="0">
                <a:solidFill>
                  <a:srgbClr val="F4A261"/>
                </a:solidFill>
                <a:latin typeface="Calibri" pitchFamily="34" charset="0"/>
                <a:ea typeface="Calibri" pitchFamily="34" charset="-122"/>
                <a:cs typeface="Calibri" pitchFamily="34" charset="-120"/>
              </a:rPr>
              <a:t>High relevance for LMICs</a:t>
            </a:r>
            <a:pPr indent="0" marL="0">
              <a:buNone/>
            </a:pPr>
            <a:r>
              <a:rPr lang="en-US" sz="1200" dirty="0">
                <a:solidFill>
                  <a:srgbClr val="F0F4F8"/>
                </a:solidFill>
                <a:latin typeface="Calibri" pitchFamily="34" charset="0"/>
                <a:ea typeface="Calibri" pitchFamily="34" charset="-122"/>
                <a:cs typeface="Calibri" pitchFamily="34" charset="-120"/>
              </a:rPr>
              <a:t xml:space="preserve"> where mammography infrastructure is limited — enables community-level cancer screening</a:t>
            </a:r>
            <a:endParaRPr lang="en-US" sz="1200" dirty="0"/>
          </a:p>
        </p:txBody>
      </p:sp>
      <p:pic>
        <p:nvPicPr>
          <p:cNvPr id="8" name="Image 1" descr="preencoded.png"/>
          <p:cNvPicPr>
            <a:picLocks noChangeAspect="1"/>
          </p:cNvPicPr>
          <p:nvPr/>
        </p:nvPicPr>
        <p:blipFill>
          <a:blip r:embed="rId2"/>
          <a:stretch>
            <a:fillRect/>
          </a:stretch>
        </p:blipFill>
        <p:spPr>
          <a:xfrm>
            <a:off x="457200" y="3383280"/>
            <a:ext cx="640080" cy="640080"/>
          </a:xfrm>
          <a:prstGeom prst="rect">
            <a:avLst/>
          </a:prstGeom>
        </p:spPr>
      </p:pic>
      <p:sp>
        <p:nvSpPr>
          <p:cNvPr id="9" name="Text 5"/>
          <p:cNvSpPr/>
          <p:nvPr/>
        </p:nvSpPr>
        <p:spPr>
          <a:xfrm>
            <a:off x="1234440" y="3429000"/>
            <a:ext cx="7589520" cy="502920"/>
          </a:xfrm>
          <a:prstGeom prst="rect">
            <a:avLst/>
          </a:prstGeom>
          <a:noFill/>
          <a:ln/>
        </p:spPr>
        <p:txBody>
          <a:bodyPr wrap="square" rtlCol="0" anchor="ctr"/>
          <a:lstStyle/>
          <a:p>
            <a:pPr indent="0" marL="0">
              <a:buNone/>
            </a:pPr>
            <a:r>
              <a:rPr lang="en-US" sz="1800" b="1" dirty="0">
                <a:solidFill>
                  <a:srgbClr val="F4A261"/>
                </a:solidFill>
                <a:latin typeface="Cambria" pitchFamily="34" charset="0"/>
                <a:ea typeface="Cambria" pitchFamily="34" charset="-122"/>
                <a:cs typeface="Cambria" pitchFamily="34" charset="-120"/>
              </a:rPr>
              <a:t>AI Integration Advantage</a:t>
            </a:r>
            <a:endParaRPr lang="en-US" sz="1800" dirty="0"/>
          </a:p>
        </p:txBody>
      </p:sp>
      <p:sp>
        <p:nvSpPr>
          <p:cNvPr id="10" name="Shape 6"/>
          <p:cNvSpPr/>
          <p:nvPr/>
        </p:nvSpPr>
        <p:spPr>
          <a:xfrm>
            <a:off x="365760" y="4069080"/>
            <a:ext cx="8412480" cy="777240"/>
          </a:xfrm>
          <a:prstGeom prst="rect">
            <a:avLst/>
          </a:prstGeom>
          <a:solidFill>
            <a:srgbClr val="0D2240"/>
          </a:solidFill>
          <a:ln w="12700">
            <a:solidFill>
              <a:srgbClr val="F4A261"/>
            </a:solidFill>
            <a:prstDash val="solid"/>
          </a:ln>
        </p:spPr>
      </p:sp>
      <p:sp>
        <p:nvSpPr>
          <p:cNvPr id="11" name="Text 7"/>
          <p:cNvSpPr/>
          <p:nvPr/>
        </p:nvSpPr>
        <p:spPr>
          <a:xfrm>
            <a:off x="502920" y="4114800"/>
            <a:ext cx="8138160" cy="685800"/>
          </a:xfrm>
          <a:prstGeom prst="rect">
            <a:avLst/>
          </a:prstGeom>
          <a:noFill/>
          <a:ln/>
        </p:spPr>
        <p:txBody>
          <a:bodyPr wrap="square" rtlCol="0" anchor="ctr"/>
          <a:lstStyle/>
          <a:p>
            <a:pPr indent="0" marL="0">
              <a:buNone/>
            </a:pPr>
            <a:r>
              <a:rPr lang="en-US" sz="1250" dirty="0">
                <a:solidFill>
                  <a:srgbClr val="F0F4F8"/>
                </a:solidFill>
                <a:latin typeface="Calibri" pitchFamily="34" charset="0"/>
                <a:ea typeface="Calibri" pitchFamily="34" charset="-122"/>
                <a:cs typeface="Calibri" pitchFamily="34" charset="-120"/>
              </a:rPr>
              <a:t>Miniaturized thermal sensors + AI = portable diagnostics accessible outside hospital infrastructure. Democratizes early cancer screening for underserved populations globally.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AI &amp; Deep Learning in Thermal Image Analysis</a:t>
            </a:r>
            <a:endParaRPr lang="en-US" sz="2200" dirty="0"/>
          </a:p>
        </p:txBody>
      </p:sp>
      <p:sp>
        <p:nvSpPr>
          <p:cNvPr id="4" name="Text 2"/>
          <p:cNvSpPr/>
          <p:nvPr/>
        </p:nvSpPr>
        <p:spPr>
          <a:xfrm>
            <a:off x="365760" y="914400"/>
            <a:ext cx="8412480" cy="347472"/>
          </a:xfrm>
          <a:prstGeom prst="rect">
            <a:avLst/>
          </a:prstGeom>
          <a:noFill/>
          <a:ln/>
        </p:spPr>
        <p:txBody>
          <a:bodyPr wrap="square" rtlCol="0" anchor="ctr"/>
          <a:lstStyle/>
          <a:p>
            <a:pPr indent="0" marL="0">
              <a:buNone/>
            </a:pPr>
            <a:r>
              <a:rPr lang="en-US" sz="1400" b="1" dirty="0">
                <a:solidFill>
                  <a:srgbClr val="0A1628"/>
                </a:solidFill>
                <a:latin typeface="Cambria" pitchFamily="34" charset="0"/>
                <a:ea typeface="Cambria" pitchFamily="34" charset="-122"/>
                <a:cs typeface="Cambria" pitchFamily="34" charset="-120"/>
              </a:rPr>
              <a:t>Computer-Aided Diagnosis (CAD) Pipeline</a:t>
            </a:r>
            <a:endParaRPr lang="en-US" sz="1400" dirty="0"/>
          </a:p>
        </p:txBody>
      </p:sp>
      <p:sp>
        <p:nvSpPr>
          <p:cNvPr id="5" name="Shape 3"/>
          <p:cNvSpPr/>
          <p:nvPr/>
        </p:nvSpPr>
        <p:spPr>
          <a:xfrm>
            <a:off x="365760" y="1325880"/>
            <a:ext cx="1508760" cy="530352"/>
          </a:xfrm>
          <a:prstGeom prst="rect">
            <a:avLst/>
          </a:prstGeom>
          <a:solidFill>
            <a:srgbClr val="0D7377"/>
          </a:solidFill>
          <a:ln w="12700">
            <a:solidFill>
              <a:srgbClr val="0D7377"/>
            </a:solidFill>
            <a:prstDash val="solid"/>
          </a:ln>
        </p:spPr>
      </p:sp>
      <p:sp>
        <p:nvSpPr>
          <p:cNvPr id="6" name="Text 4"/>
          <p:cNvSpPr/>
          <p:nvPr/>
        </p:nvSpPr>
        <p:spPr>
          <a:xfrm>
            <a:off x="365760" y="1325880"/>
            <a:ext cx="1508760" cy="53035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Acquisition</a:t>
            </a:r>
            <a:endParaRPr lang="en-US" sz="1100" dirty="0"/>
          </a:p>
        </p:txBody>
      </p:sp>
      <p:sp>
        <p:nvSpPr>
          <p:cNvPr id="7" name="Text 5"/>
          <p:cNvSpPr/>
          <p:nvPr/>
        </p:nvSpPr>
        <p:spPr>
          <a:xfrm>
            <a:off x="1874520" y="1417320"/>
            <a:ext cx="109728" cy="365760"/>
          </a:xfrm>
          <a:prstGeom prst="rect">
            <a:avLst/>
          </a:prstGeom>
          <a:noFill/>
          <a:ln/>
        </p:spPr>
        <p:txBody>
          <a:bodyPr wrap="square" rtlCol="0" anchor="ctr"/>
          <a:lstStyle/>
          <a:p>
            <a:pPr algn="ctr" indent="0" marL="0">
              <a:buNone/>
            </a:pPr>
            <a:r>
              <a:rPr lang="en-US" sz="1800" b="1" dirty="0">
                <a:solidFill>
                  <a:srgbClr val="0D7377"/>
                </a:solidFill>
              </a:rPr>
              <a:t>→</a:t>
            </a:r>
            <a:endParaRPr lang="en-US" sz="1800" dirty="0"/>
          </a:p>
        </p:txBody>
      </p:sp>
      <p:sp>
        <p:nvSpPr>
          <p:cNvPr id="8" name="Shape 6"/>
          <p:cNvSpPr/>
          <p:nvPr/>
        </p:nvSpPr>
        <p:spPr>
          <a:xfrm>
            <a:off x="1965960" y="1325880"/>
            <a:ext cx="1508760" cy="530352"/>
          </a:xfrm>
          <a:prstGeom prst="rect">
            <a:avLst/>
          </a:prstGeom>
          <a:solidFill>
            <a:srgbClr val="0A1628"/>
          </a:solidFill>
          <a:ln w="12700">
            <a:solidFill>
              <a:srgbClr val="0D7377"/>
            </a:solidFill>
            <a:prstDash val="solid"/>
          </a:ln>
        </p:spPr>
      </p:sp>
      <p:sp>
        <p:nvSpPr>
          <p:cNvPr id="9" name="Text 7"/>
          <p:cNvSpPr/>
          <p:nvPr/>
        </p:nvSpPr>
        <p:spPr>
          <a:xfrm>
            <a:off x="1965960" y="1325880"/>
            <a:ext cx="1508760" cy="53035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10" name="Text 8"/>
          <p:cNvSpPr/>
          <p:nvPr/>
        </p:nvSpPr>
        <p:spPr>
          <a:xfrm>
            <a:off x="3474720" y="1417320"/>
            <a:ext cx="109728" cy="365760"/>
          </a:xfrm>
          <a:prstGeom prst="rect">
            <a:avLst/>
          </a:prstGeom>
          <a:noFill/>
          <a:ln/>
        </p:spPr>
        <p:txBody>
          <a:bodyPr wrap="square" rtlCol="0" anchor="ctr"/>
          <a:lstStyle/>
          <a:p>
            <a:pPr algn="ctr" indent="0" marL="0">
              <a:buNone/>
            </a:pPr>
            <a:r>
              <a:rPr lang="en-US" sz="1800" b="1" dirty="0">
                <a:solidFill>
                  <a:srgbClr val="0D7377"/>
                </a:solidFill>
              </a:rPr>
              <a:t>→</a:t>
            </a:r>
            <a:endParaRPr lang="en-US" sz="1800" dirty="0"/>
          </a:p>
        </p:txBody>
      </p:sp>
      <p:sp>
        <p:nvSpPr>
          <p:cNvPr id="11" name="Shape 9"/>
          <p:cNvSpPr/>
          <p:nvPr/>
        </p:nvSpPr>
        <p:spPr>
          <a:xfrm>
            <a:off x="3566160" y="1325880"/>
            <a:ext cx="1508760" cy="530352"/>
          </a:xfrm>
          <a:prstGeom prst="rect">
            <a:avLst/>
          </a:prstGeom>
          <a:solidFill>
            <a:srgbClr val="0D7377"/>
          </a:solidFill>
          <a:ln w="12700">
            <a:solidFill>
              <a:srgbClr val="0D7377"/>
            </a:solidFill>
            <a:prstDash val="solid"/>
          </a:ln>
        </p:spPr>
      </p:sp>
      <p:sp>
        <p:nvSpPr>
          <p:cNvPr id="12" name="Text 10"/>
          <p:cNvSpPr/>
          <p:nvPr/>
        </p:nvSpPr>
        <p:spPr>
          <a:xfrm>
            <a:off x="3566160" y="1325880"/>
            <a:ext cx="1508760" cy="53035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Segmentation</a:t>
            </a:r>
            <a:endParaRPr lang="en-US" sz="1100" dirty="0"/>
          </a:p>
        </p:txBody>
      </p:sp>
      <p:sp>
        <p:nvSpPr>
          <p:cNvPr id="13" name="Text 11"/>
          <p:cNvSpPr/>
          <p:nvPr/>
        </p:nvSpPr>
        <p:spPr>
          <a:xfrm>
            <a:off x="5074920" y="1417320"/>
            <a:ext cx="109728" cy="365760"/>
          </a:xfrm>
          <a:prstGeom prst="rect">
            <a:avLst/>
          </a:prstGeom>
          <a:noFill/>
          <a:ln/>
        </p:spPr>
        <p:txBody>
          <a:bodyPr wrap="square" rtlCol="0" anchor="ctr"/>
          <a:lstStyle/>
          <a:p>
            <a:pPr algn="ctr" indent="0" marL="0">
              <a:buNone/>
            </a:pPr>
            <a:r>
              <a:rPr lang="en-US" sz="1800" b="1" dirty="0">
                <a:solidFill>
                  <a:srgbClr val="0D7377"/>
                </a:solidFill>
              </a:rPr>
              <a:t>→</a:t>
            </a:r>
            <a:endParaRPr lang="en-US" sz="1800" dirty="0"/>
          </a:p>
        </p:txBody>
      </p:sp>
      <p:sp>
        <p:nvSpPr>
          <p:cNvPr id="14" name="Shape 12"/>
          <p:cNvSpPr/>
          <p:nvPr/>
        </p:nvSpPr>
        <p:spPr>
          <a:xfrm>
            <a:off x="5166360" y="1325880"/>
            <a:ext cx="1508760" cy="530352"/>
          </a:xfrm>
          <a:prstGeom prst="rect">
            <a:avLst/>
          </a:prstGeom>
          <a:solidFill>
            <a:srgbClr val="0A1628"/>
          </a:solidFill>
          <a:ln w="12700">
            <a:solidFill>
              <a:srgbClr val="0D7377"/>
            </a:solidFill>
            <a:prstDash val="solid"/>
          </a:ln>
        </p:spPr>
      </p:sp>
      <p:sp>
        <p:nvSpPr>
          <p:cNvPr id="15" name="Text 13"/>
          <p:cNvSpPr/>
          <p:nvPr/>
        </p:nvSpPr>
        <p:spPr>
          <a:xfrm>
            <a:off x="5166360" y="1325880"/>
            <a:ext cx="1508760" cy="53035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Extraction</a:t>
            </a:r>
            <a:endParaRPr lang="en-US" sz="1100" dirty="0"/>
          </a:p>
        </p:txBody>
      </p:sp>
      <p:sp>
        <p:nvSpPr>
          <p:cNvPr id="16" name="Text 14"/>
          <p:cNvSpPr/>
          <p:nvPr/>
        </p:nvSpPr>
        <p:spPr>
          <a:xfrm>
            <a:off x="6675120" y="1417320"/>
            <a:ext cx="109728" cy="365760"/>
          </a:xfrm>
          <a:prstGeom prst="rect">
            <a:avLst/>
          </a:prstGeom>
          <a:noFill/>
          <a:ln/>
        </p:spPr>
        <p:txBody>
          <a:bodyPr wrap="square" rtlCol="0" anchor="ctr"/>
          <a:lstStyle/>
          <a:p>
            <a:pPr algn="ctr" indent="0" marL="0">
              <a:buNone/>
            </a:pPr>
            <a:r>
              <a:rPr lang="en-US" sz="1800" b="1" dirty="0">
                <a:solidFill>
                  <a:srgbClr val="0D7377"/>
                </a:solidFill>
              </a:rPr>
              <a:t>→</a:t>
            </a:r>
            <a:endParaRPr lang="en-US" sz="1800" dirty="0"/>
          </a:p>
        </p:txBody>
      </p:sp>
      <p:sp>
        <p:nvSpPr>
          <p:cNvPr id="17" name="Shape 15"/>
          <p:cNvSpPr/>
          <p:nvPr/>
        </p:nvSpPr>
        <p:spPr>
          <a:xfrm>
            <a:off x="6766560" y="1325880"/>
            <a:ext cx="1508760" cy="530352"/>
          </a:xfrm>
          <a:prstGeom prst="rect">
            <a:avLst/>
          </a:prstGeom>
          <a:solidFill>
            <a:srgbClr val="0D7377"/>
          </a:solidFill>
          <a:ln w="12700">
            <a:solidFill>
              <a:srgbClr val="0D7377"/>
            </a:solidFill>
            <a:prstDash val="solid"/>
          </a:ln>
        </p:spPr>
      </p:sp>
      <p:sp>
        <p:nvSpPr>
          <p:cNvPr id="18" name="Text 16"/>
          <p:cNvSpPr/>
          <p:nvPr/>
        </p:nvSpPr>
        <p:spPr>
          <a:xfrm>
            <a:off x="6766560" y="1325880"/>
            <a:ext cx="1508760" cy="53035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Classification</a:t>
            </a:r>
            <a:endParaRPr lang="en-US" sz="1100" dirty="0"/>
          </a:p>
        </p:txBody>
      </p:sp>
      <p:sp>
        <p:nvSpPr>
          <p:cNvPr id="19" name="Shape 17"/>
          <p:cNvSpPr/>
          <p:nvPr/>
        </p:nvSpPr>
        <p:spPr>
          <a:xfrm>
            <a:off x="320040" y="2011680"/>
            <a:ext cx="4069080" cy="2743200"/>
          </a:xfrm>
          <a:prstGeom prst="rect">
            <a:avLst/>
          </a:prstGeom>
          <a:solidFill>
            <a:srgbClr val="FFFFFF"/>
          </a:solidFill>
          <a:ln w="12700">
            <a:solidFill>
              <a:srgbClr val="0D7377"/>
            </a:solidFill>
            <a:prstDash val="solid"/>
          </a:ln>
          <a:effectLst>
            <a:outerShdw sx="100000" sy="100000" kx="0" ky="0" algn="bl" rotWithShape="0" blurRad="76200" dist="25400" dir="8100000">
              <a:srgbClr val="000000">
                <a:alpha val="10000"/>
              </a:srgbClr>
            </a:outerShdw>
          </a:effectLst>
        </p:spPr>
      </p:sp>
      <p:sp>
        <p:nvSpPr>
          <p:cNvPr id="20" name="Shape 18"/>
          <p:cNvSpPr/>
          <p:nvPr/>
        </p:nvSpPr>
        <p:spPr>
          <a:xfrm>
            <a:off x="320040" y="2011680"/>
            <a:ext cx="4069080" cy="411480"/>
          </a:xfrm>
          <a:prstGeom prst="rect">
            <a:avLst/>
          </a:prstGeom>
          <a:solidFill>
            <a:srgbClr val="0D7377"/>
          </a:solidFill>
          <a:ln w="12700">
            <a:solidFill>
              <a:srgbClr val="0D7377"/>
            </a:solidFill>
            <a:prstDash val="solid"/>
          </a:ln>
        </p:spPr>
      </p:sp>
      <p:sp>
        <p:nvSpPr>
          <p:cNvPr id="21" name="Text 19"/>
          <p:cNvSpPr/>
          <p:nvPr/>
        </p:nvSpPr>
        <p:spPr>
          <a:xfrm>
            <a:off x="457200" y="2029968"/>
            <a:ext cx="384048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Traditional Machine Learning</a:t>
            </a:r>
            <a:endParaRPr lang="en-US" sz="1300" dirty="0"/>
          </a:p>
        </p:txBody>
      </p:sp>
      <p:sp>
        <p:nvSpPr>
          <p:cNvPr id="22" name="Text 20"/>
          <p:cNvSpPr/>
          <p:nvPr/>
        </p:nvSpPr>
        <p:spPr>
          <a:xfrm>
            <a:off x="457200" y="2514600"/>
            <a:ext cx="3794760" cy="2148840"/>
          </a:xfrm>
          <a:prstGeom prst="rect">
            <a:avLst/>
          </a:prstGeom>
          <a:noFill/>
          <a:ln/>
        </p:spPr>
        <p:txBody>
          <a:bodyPr wrap="square" rtlCol="0" anchor="ctr"/>
          <a:lstStyle/>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SVM, Random Forests, kNN, Naive Bayes, ANN</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GLCM, LBP, HOG for texture feature extraction</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Statistical features: mean temp, entropy, asymmetry indices</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Limitation: expert-designed features may miss complex non-linear thermal patterns</a:t>
            </a:r>
            <a:endParaRPr lang="en-US" sz="1150" dirty="0"/>
          </a:p>
        </p:txBody>
      </p:sp>
      <p:sp>
        <p:nvSpPr>
          <p:cNvPr id="23" name="Shape 21"/>
          <p:cNvSpPr/>
          <p:nvPr/>
        </p:nvSpPr>
        <p:spPr>
          <a:xfrm>
            <a:off x="4754880" y="2011680"/>
            <a:ext cx="4069080" cy="2743200"/>
          </a:xfrm>
          <a:prstGeom prst="rect">
            <a:avLst/>
          </a:prstGeom>
          <a:solidFill>
            <a:srgbClr val="FFFFFF"/>
          </a:solidFill>
          <a:ln w="12700">
            <a:solidFill>
              <a:srgbClr val="6B46C1"/>
            </a:solidFill>
            <a:prstDash val="solid"/>
          </a:ln>
          <a:effectLst>
            <a:outerShdw sx="100000" sy="100000" kx="0" ky="0" algn="bl" rotWithShape="0" blurRad="76200" dist="25400" dir="8100000">
              <a:srgbClr val="000000">
                <a:alpha val="10000"/>
              </a:srgbClr>
            </a:outerShdw>
          </a:effectLst>
        </p:spPr>
      </p:sp>
      <p:sp>
        <p:nvSpPr>
          <p:cNvPr id="24" name="Shape 22"/>
          <p:cNvSpPr/>
          <p:nvPr/>
        </p:nvSpPr>
        <p:spPr>
          <a:xfrm>
            <a:off x="4754880" y="2011680"/>
            <a:ext cx="4069080" cy="411480"/>
          </a:xfrm>
          <a:prstGeom prst="rect">
            <a:avLst/>
          </a:prstGeom>
          <a:solidFill>
            <a:srgbClr val="6B46C1"/>
          </a:solidFill>
          <a:ln w="12700">
            <a:solidFill>
              <a:srgbClr val="6B46C1"/>
            </a:solidFill>
            <a:prstDash val="solid"/>
          </a:ln>
        </p:spPr>
      </p:sp>
      <p:sp>
        <p:nvSpPr>
          <p:cNvPr id="25" name="Text 23"/>
          <p:cNvSpPr/>
          <p:nvPr/>
        </p:nvSpPr>
        <p:spPr>
          <a:xfrm>
            <a:off x="4892040" y="2029968"/>
            <a:ext cx="384048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Deep Learning (CNN)</a:t>
            </a:r>
            <a:endParaRPr lang="en-US" sz="1300" dirty="0"/>
          </a:p>
        </p:txBody>
      </p:sp>
      <p:sp>
        <p:nvSpPr>
          <p:cNvPr id="26" name="Text 24"/>
          <p:cNvSpPr/>
          <p:nvPr/>
        </p:nvSpPr>
        <p:spPr>
          <a:xfrm>
            <a:off x="4892040" y="2514600"/>
            <a:ext cx="3794760" cy="2148840"/>
          </a:xfrm>
          <a:prstGeom prst="rect">
            <a:avLst/>
          </a:prstGeom>
          <a:noFill/>
          <a:ln/>
        </p:spPr>
        <p:txBody>
          <a:bodyPr wrap="square" rtlCol="0" anchor="ctr"/>
          <a:lstStyle/>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VGG16, ResNet, DenseNet, InceptionV3, EfficientNet via transfer learning</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Thermo-CAD multi-CNN system: high accuracy, reduced complexity</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PSO-tuned CNN: significantly reduces false positive rates</a:t>
            </a:r>
            <a:endParaRPr lang="en-US" sz="1150" dirty="0"/>
          </a:p>
          <a:p>
            <a:pPr marL="342900" indent="-342900">
              <a:spcAft>
                <a:spcPts val="500"/>
              </a:spcAft>
              <a:buSzPct val="100000"/>
              <a:buChar char="•"/>
            </a:pPr>
            <a:r>
              <a:rPr lang="en-US" sz="1150" dirty="0">
                <a:solidFill>
                  <a:srgbClr val="4A5568"/>
                </a:solidFill>
                <a:latin typeface="Calibri" pitchFamily="34" charset="0"/>
                <a:ea typeface="Calibri" pitchFamily="34" charset="-122"/>
                <a:cs typeface="Calibri" pitchFamily="34" charset="-120"/>
              </a:rPr>
              <a:t>InceptionV4 applied to real-time thermography video streaming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46C1"/>
          </a:solidFill>
          <a:ln w="12700">
            <a:solidFill>
              <a:srgbClr val="6B46C1"/>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Applications Across Cancer Types</a:t>
            </a:r>
            <a:endParaRPr lang="en-US" sz="2400" dirty="0"/>
          </a:p>
        </p:txBody>
      </p:sp>
      <p:sp>
        <p:nvSpPr>
          <p:cNvPr id="4" name="Shape 2"/>
          <p:cNvSpPr/>
          <p:nvPr/>
        </p:nvSpPr>
        <p:spPr>
          <a:xfrm>
            <a:off x="320040" y="960120"/>
            <a:ext cx="8503920" cy="1188720"/>
          </a:xfrm>
          <a:prstGeom prst="rect">
            <a:avLst/>
          </a:prstGeom>
          <a:solidFill>
            <a:srgbClr val="0D2240"/>
          </a:solidFill>
          <a:ln w="12700">
            <a:solidFill>
              <a:srgbClr val="0D7377"/>
            </a:solidFill>
            <a:prstDash val="solid"/>
          </a:ln>
        </p:spPr>
      </p:sp>
      <p:sp>
        <p:nvSpPr>
          <p:cNvPr id="5" name="Shape 3"/>
          <p:cNvSpPr/>
          <p:nvPr/>
        </p:nvSpPr>
        <p:spPr>
          <a:xfrm>
            <a:off x="320040" y="960120"/>
            <a:ext cx="64008" cy="1188720"/>
          </a:xfrm>
          <a:prstGeom prst="rect">
            <a:avLst/>
          </a:prstGeom>
          <a:solidFill>
            <a:srgbClr val="0D7377"/>
          </a:solidFill>
          <a:ln w="12700">
            <a:solidFill>
              <a:srgbClr val="0D7377"/>
            </a:solidFill>
            <a:prstDash val="solid"/>
          </a:ln>
        </p:spPr>
      </p:sp>
      <p:pic>
        <p:nvPicPr>
          <p:cNvPr id="6" name="Image 0" descr="preencoded.png"/>
          <p:cNvPicPr>
            <a:picLocks noChangeAspect="1"/>
          </p:cNvPicPr>
          <p:nvPr/>
        </p:nvPicPr>
        <p:blipFill>
          <a:blip r:embed="rId1"/>
          <a:stretch>
            <a:fillRect/>
          </a:stretch>
        </p:blipFill>
        <p:spPr>
          <a:xfrm>
            <a:off x="502920" y="1280160"/>
            <a:ext cx="502920" cy="502920"/>
          </a:xfrm>
          <a:prstGeom prst="rect">
            <a:avLst/>
          </a:prstGeom>
        </p:spPr>
      </p:pic>
      <p:sp>
        <p:nvSpPr>
          <p:cNvPr id="7" name="Text 4"/>
          <p:cNvSpPr/>
          <p:nvPr/>
        </p:nvSpPr>
        <p:spPr>
          <a:xfrm>
            <a:off x="1143000" y="1033272"/>
            <a:ext cx="2194560" cy="384048"/>
          </a:xfrm>
          <a:prstGeom prst="rect">
            <a:avLst/>
          </a:prstGeom>
          <a:noFill/>
          <a:ln/>
        </p:spPr>
        <p:txBody>
          <a:bodyPr wrap="square" rtlCol="0" anchor="ctr"/>
          <a:lstStyle/>
          <a:p>
            <a:pPr indent="0" marL="0">
              <a:buNone/>
            </a:pPr>
            <a:r>
              <a:rPr lang="en-US" sz="1400" b="1" dirty="0">
                <a:solidFill>
                  <a:srgbClr val="0D7377"/>
                </a:solidFill>
                <a:latin typeface="Cambria" pitchFamily="34" charset="0"/>
                <a:ea typeface="Cambria" pitchFamily="34" charset="-122"/>
                <a:cs typeface="Cambria" pitchFamily="34" charset="-120"/>
              </a:rPr>
              <a:t>Breast Cancer</a:t>
            </a:r>
            <a:endParaRPr lang="en-US" sz="1400" dirty="0"/>
          </a:p>
        </p:txBody>
      </p:sp>
      <p:sp>
        <p:nvSpPr>
          <p:cNvPr id="8" name="Text 5"/>
          <p:cNvSpPr/>
          <p:nvPr/>
        </p:nvSpPr>
        <p:spPr>
          <a:xfrm>
            <a:off x="3429000" y="1033272"/>
            <a:ext cx="5257800" cy="1078992"/>
          </a:xfrm>
          <a:prstGeom prst="rect">
            <a:avLst/>
          </a:prstGeom>
          <a:noFill/>
          <a:ln/>
        </p:spPr>
        <p:txBody>
          <a:bodyPr wrap="square" rtlCol="0" anchor="ctr"/>
          <a:lstStyle/>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Most extensively investigated — driven by global incidence</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Non-invasive, painless, no radiation, no compression required</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97–100% diagnostic accuracy in optimized deep learning models</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FDA: thermography is adjunct to, not replacement for, mammography</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Primary dataset: DMR-IR (Brazil)</a:t>
            </a:r>
            <a:endParaRPr lang="en-US" sz="1050" dirty="0"/>
          </a:p>
        </p:txBody>
      </p:sp>
      <p:sp>
        <p:nvSpPr>
          <p:cNvPr id="9" name="Shape 6"/>
          <p:cNvSpPr/>
          <p:nvPr/>
        </p:nvSpPr>
        <p:spPr>
          <a:xfrm>
            <a:off x="320040" y="2286000"/>
            <a:ext cx="8503920" cy="1188720"/>
          </a:xfrm>
          <a:prstGeom prst="rect">
            <a:avLst/>
          </a:prstGeom>
          <a:solidFill>
            <a:srgbClr val="0D2240"/>
          </a:solidFill>
          <a:ln w="12700">
            <a:solidFill>
              <a:srgbClr val="F4A261"/>
            </a:solidFill>
            <a:prstDash val="solid"/>
          </a:ln>
        </p:spPr>
      </p:sp>
      <p:sp>
        <p:nvSpPr>
          <p:cNvPr id="10" name="Shape 7"/>
          <p:cNvSpPr/>
          <p:nvPr/>
        </p:nvSpPr>
        <p:spPr>
          <a:xfrm>
            <a:off x="320040" y="2286000"/>
            <a:ext cx="64008" cy="1188720"/>
          </a:xfrm>
          <a:prstGeom prst="rect">
            <a:avLst/>
          </a:prstGeom>
          <a:solidFill>
            <a:srgbClr val="F4A261"/>
          </a:solidFill>
          <a:ln w="12700">
            <a:solidFill>
              <a:srgbClr val="F4A261"/>
            </a:solidFill>
            <a:prstDash val="solid"/>
          </a:ln>
        </p:spPr>
      </p:sp>
      <p:pic>
        <p:nvPicPr>
          <p:cNvPr id="11" name="Image 1" descr="preencoded.png"/>
          <p:cNvPicPr>
            <a:picLocks noChangeAspect="1"/>
          </p:cNvPicPr>
          <p:nvPr/>
        </p:nvPicPr>
        <p:blipFill>
          <a:blip r:embed="rId2"/>
          <a:stretch>
            <a:fillRect/>
          </a:stretch>
        </p:blipFill>
        <p:spPr>
          <a:xfrm>
            <a:off x="502920" y="2606040"/>
            <a:ext cx="502920" cy="502920"/>
          </a:xfrm>
          <a:prstGeom prst="rect">
            <a:avLst/>
          </a:prstGeom>
        </p:spPr>
      </p:pic>
      <p:sp>
        <p:nvSpPr>
          <p:cNvPr id="12" name="Text 8"/>
          <p:cNvSpPr/>
          <p:nvPr/>
        </p:nvSpPr>
        <p:spPr>
          <a:xfrm>
            <a:off x="1143000" y="2359152"/>
            <a:ext cx="2194560" cy="384048"/>
          </a:xfrm>
          <a:prstGeom prst="rect">
            <a:avLst/>
          </a:prstGeom>
          <a:noFill/>
          <a:ln/>
        </p:spPr>
        <p:txBody>
          <a:bodyPr wrap="square" rtlCol="0" anchor="ctr"/>
          <a:lstStyle/>
          <a:p>
            <a:pPr indent="0" marL="0">
              <a:buNone/>
            </a:pPr>
            <a:r>
              <a:rPr lang="en-US" sz="1400" b="1" dirty="0">
                <a:solidFill>
                  <a:srgbClr val="F4A261"/>
                </a:solidFill>
                <a:latin typeface="Cambria" pitchFamily="34" charset="0"/>
                <a:ea typeface="Cambria" pitchFamily="34" charset="-122"/>
                <a:cs typeface="Cambria" pitchFamily="34" charset="-120"/>
              </a:rPr>
              <a:t>Thyroid Cancer</a:t>
            </a:r>
            <a:endParaRPr lang="en-US" sz="1400" dirty="0"/>
          </a:p>
        </p:txBody>
      </p:sp>
      <p:sp>
        <p:nvSpPr>
          <p:cNvPr id="13" name="Text 9"/>
          <p:cNvSpPr/>
          <p:nvPr/>
        </p:nvSpPr>
        <p:spPr>
          <a:xfrm>
            <a:off x="3429000" y="2359152"/>
            <a:ext cx="5257800" cy="1078992"/>
          </a:xfrm>
          <a:prstGeom prst="rect">
            <a:avLst/>
          </a:prstGeom>
          <a:noFill/>
          <a:ln/>
        </p:spPr>
        <p:txBody>
          <a:bodyPr wrap="square" rtlCol="0" anchor="ctr"/>
          <a:lstStyle/>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Nodule prevalence up to 65% in adults; most benign</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AI + infrared thermography: 91.11% classification accuracy (CNN)</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Non-invasive alternative to fine-needle aspiration biopsy</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Hybrid ultrasound + thermography models outperform either alone</a:t>
            </a:r>
            <a:endParaRPr lang="en-US" sz="1050" dirty="0"/>
          </a:p>
        </p:txBody>
      </p:sp>
      <p:sp>
        <p:nvSpPr>
          <p:cNvPr id="14" name="Shape 10"/>
          <p:cNvSpPr/>
          <p:nvPr/>
        </p:nvSpPr>
        <p:spPr>
          <a:xfrm>
            <a:off x="320040" y="3611880"/>
            <a:ext cx="8503920" cy="1188720"/>
          </a:xfrm>
          <a:prstGeom prst="rect">
            <a:avLst/>
          </a:prstGeom>
          <a:solidFill>
            <a:srgbClr val="0D2240"/>
          </a:solidFill>
          <a:ln w="12700">
            <a:solidFill>
              <a:srgbClr val="6B46C1"/>
            </a:solidFill>
            <a:prstDash val="solid"/>
          </a:ln>
        </p:spPr>
      </p:sp>
      <p:sp>
        <p:nvSpPr>
          <p:cNvPr id="15" name="Shape 11"/>
          <p:cNvSpPr/>
          <p:nvPr/>
        </p:nvSpPr>
        <p:spPr>
          <a:xfrm>
            <a:off x="320040" y="3611880"/>
            <a:ext cx="64008" cy="1188720"/>
          </a:xfrm>
          <a:prstGeom prst="rect">
            <a:avLst/>
          </a:prstGeom>
          <a:solidFill>
            <a:srgbClr val="6B46C1"/>
          </a:solidFill>
          <a:ln w="12700">
            <a:solidFill>
              <a:srgbClr val="6B46C1"/>
            </a:solidFill>
            <a:prstDash val="solid"/>
          </a:ln>
        </p:spPr>
      </p:sp>
      <p:pic>
        <p:nvPicPr>
          <p:cNvPr id="16" name="Image 2" descr="preencoded.png"/>
          <p:cNvPicPr>
            <a:picLocks noChangeAspect="1"/>
          </p:cNvPicPr>
          <p:nvPr/>
        </p:nvPicPr>
        <p:blipFill>
          <a:blip r:embed="rId3"/>
          <a:stretch>
            <a:fillRect/>
          </a:stretch>
        </p:blipFill>
        <p:spPr>
          <a:xfrm>
            <a:off x="502920" y="3931920"/>
            <a:ext cx="502920" cy="502920"/>
          </a:xfrm>
          <a:prstGeom prst="rect">
            <a:avLst/>
          </a:prstGeom>
        </p:spPr>
      </p:pic>
      <p:sp>
        <p:nvSpPr>
          <p:cNvPr id="17" name="Text 12"/>
          <p:cNvSpPr/>
          <p:nvPr/>
        </p:nvSpPr>
        <p:spPr>
          <a:xfrm>
            <a:off x="1143000" y="3685032"/>
            <a:ext cx="2194560" cy="384048"/>
          </a:xfrm>
          <a:prstGeom prst="rect">
            <a:avLst/>
          </a:prstGeom>
          <a:noFill/>
          <a:ln/>
        </p:spPr>
        <p:txBody>
          <a:bodyPr wrap="square" rtlCol="0" anchor="ctr"/>
          <a:lstStyle/>
          <a:p>
            <a:pPr indent="0" marL="0">
              <a:buNone/>
            </a:pPr>
            <a:r>
              <a:rPr lang="en-US" sz="1400" b="1" dirty="0">
                <a:solidFill>
                  <a:srgbClr val="6B46C1"/>
                </a:solidFill>
                <a:latin typeface="Cambria" pitchFamily="34" charset="0"/>
                <a:ea typeface="Cambria" pitchFamily="34" charset="-122"/>
                <a:cs typeface="Cambria" pitchFamily="34" charset="-120"/>
              </a:rPr>
              <a:t>Skin &amp; Internal Tumors</a:t>
            </a:r>
            <a:endParaRPr lang="en-US" sz="1400" dirty="0"/>
          </a:p>
        </p:txBody>
      </p:sp>
      <p:sp>
        <p:nvSpPr>
          <p:cNvPr id="18" name="Text 13"/>
          <p:cNvSpPr/>
          <p:nvPr/>
        </p:nvSpPr>
        <p:spPr>
          <a:xfrm>
            <a:off x="3429000" y="3685032"/>
            <a:ext cx="5257800" cy="1078992"/>
          </a:xfrm>
          <a:prstGeom prst="rect">
            <a:avLst/>
          </a:prstGeom>
          <a:noFill/>
          <a:ln/>
        </p:spPr>
        <p:txBody>
          <a:bodyPr wrap="square" rtlCol="0" anchor="ctr"/>
          <a:lstStyle/>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Melanoma &amp; BCC: localized thermal elevations directly on skin surface</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Thermal wave imaging distinguishes melanoma from benign nevi</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Brain tumors: intraoperative thermal mapping for margin delineation</a:t>
            </a:r>
            <a:endParaRPr lang="en-US" sz="1050" dirty="0"/>
          </a:p>
          <a:p>
            <a:pPr marL="342900" indent="-342900">
              <a:buSzPct val="100000"/>
              <a:buChar char="•"/>
            </a:pPr>
            <a:r>
              <a:rPr lang="en-US" sz="1050" dirty="0">
                <a:solidFill>
                  <a:srgbClr val="F0F4F8"/>
                </a:solidFill>
                <a:latin typeface="Calibri" pitchFamily="34" charset="0"/>
                <a:ea typeface="Calibri" pitchFamily="34" charset="-122"/>
                <a:cs typeface="Calibri" pitchFamily="34" charset="-120"/>
              </a:rPr>
              <a:t>Rectal tumors: ITME demonstrated in preclinical mouse models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53E3E"/>
          </a:solidFill>
          <a:ln w="12700">
            <a:solidFill>
              <a:srgbClr val="E53E3E"/>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Current Challenges &amp; Limitations</a:t>
            </a:r>
            <a:endParaRPr lang="en-US" sz="2400" dirty="0"/>
          </a:p>
        </p:txBody>
      </p:sp>
      <p:sp>
        <p:nvSpPr>
          <p:cNvPr id="4" name="Shape 2"/>
          <p:cNvSpPr/>
          <p:nvPr/>
        </p:nvSpPr>
        <p:spPr>
          <a:xfrm>
            <a:off x="320040" y="960120"/>
            <a:ext cx="4160520" cy="1143000"/>
          </a:xfrm>
          <a:prstGeom prst="rect">
            <a:avLst/>
          </a:prstGeom>
          <a:solidFill>
            <a:srgbClr val="FFFFFF"/>
          </a:solidFill>
          <a:ln w="12700">
            <a:solidFill>
              <a:srgbClr val="E53E3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320040" y="960120"/>
            <a:ext cx="4160520" cy="54864"/>
          </a:xfrm>
          <a:prstGeom prst="rect">
            <a:avLst/>
          </a:prstGeom>
          <a:solidFill>
            <a:srgbClr val="E53E3E"/>
          </a:solidFill>
          <a:ln w="12700">
            <a:solidFill>
              <a:srgbClr val="E53E3E"/>
            </a:solidFill>
            <a:prstDash val="solid"/>
          </a:ln>
        </p:spPr>
      </p:sp>
      <p:sp>
        <p:nvSpPr>
          <p:cNvPr id="6" name="Text 4"/>
          <p:cNvSpPr/>
          <p:nvPr/>
        </p:nvSpPr>
        <p:spPr>
          <a:xfrm>
            <a:off x="429768" y="1051560"/>
            <a:ext cx="3931920" cy="320040"/>
          </a:xfrm>
          <a:prstGeom prst="rect">
            <a:avLst/>
          </a:prstGeom>
          <a:noFill/>
          <a:ln/>
        </p:spPr>
        <p:txBody>
          <a:bodyPr wrap="square" rtlCol="0" anchor="ctr"/>
          <a:lstStyle/>
          <a:p>
            <a:pPr indent="0" marL="0">
              <a:buNone/>
            </a:pPr>
            <a:r>
              <a:rPr lang="en-US" sz="1250" b="1" dirty="0">
                <a:solidFill>
                  <a:srgbClr val="E53E3E"/>
                </a:solidFill>
                <a:latin typeface="Cambria" pitchFamily="34" charset="0"/>
                <a:ea typeface="Cambria" pitchFamily="34" charset="-122"/>
                <a:cs typeface="Cambria" pitchFamily="34" charset="-120"/>
              </a:rPr>
              <a:t>Clinical Validation</a:t>
            </a:r>
            <a:endParaRPr lang="en-US" sz="1250" dirty="0"/>
          </a:p>
        </p:txBody>
      </p:sp>
      <p:sp>
        <p:nvSpPr>
          <p:cNvPr id="7" name="Text 5"/>
          <p:cNvSpPr/>
          <p:nvPr/>
        </p:nvSpPr>
        <p:spPr>
          <a:xfrm>
            <a:off x="429768" y="139903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Small single-center datasets; lack of large-scale RCTs; FDA has not approved thermography as primary breast cancer screening tool</a:t>
            </a:r>
            <a:endParaRPr lang="en-US" sz="1050" dirty="0"/>
          </a:p>
        </p:txBody>
      </p:sp>
      <p:sp>
        <p:nvSpPr>
          <p:cNvPr id="8" name="Shape 6"/>
          <p:cNvSpPr/>
          <p:nvPr/>
        </p:nvSpPr>
        <p:spPr>
          <a:xfrm>
            <a:off x="4754880" y="960120"/>
            <a:ext cx="4160520" cy="1143000"/>
          </a:xfrm>
          <a:prstGeom prst="rect">
            <a:avLst/>
          </a:prstGeom>
          <a:solidFill>
            <a:srgbClr val="FFFFFF"/>
          </a:solidFill>
          <a:ln w="12700">
            <a:solidFill>
              <a:srgbClr val="F4A261"/>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754880" y="960120"/>
            <a:ext cx="4160520" cy="54864"/>
          </a:xfrm>
          <a:prstGeom prst="rect">
            <a:avLst/>
          </a:prstGeom>
          <a:solidFill>
            <a:srgbClr val="F4A261"/>
          </a:solidFill>
          <a:ln w="12700">
            <a:solidFill>
              <a:srgbClr val="F4A261"/>
            </a:solidFill>
            <a:prstDash val="solid"/>
          </a:ln>
        </p:spPr>
      </p:sp>
      <p:sp>
        <p:nvSpPr>
          <p:cNvPr id="10" name="Text 8"/>
          <p:cNvSpPr/>
          <p:nvPr/>
        </p:nvSpPr>
        <p:spPr>
          <a:xfrm>
            <a:off x="4864608" y="1051560"/>
            <a:ext cx="3931920" cy="320040"/>
          </a:xfrm>
          <a:prstGeom prst="rect">
            <a:avLst/>
          </a:prstGeom>
          <a:noFill/>
          <a:ln/>
        </p:spPr>
        <p:txBody>
          <a:bodyPr wrap="square" rtlCol="0" anchor="ctr"/>
          <a:lstStyle/>
          <a:p>
            <a:pPr indent="0" marL="0">
              <a:buNone/>
            </a:pPr>
            <a:r>
              <a:rPr lang="en-US" sz="1250" b="1" dirty="0">
                <a:solidFill>
                  <a:srgbClr val="F4A261"/>
                </a:solidFill>
                <a:latin typeface="Cambria" pitchFamily="34" charset="0"/>
                <a:ea typeface="Cambria" pitchFamily="34" charset="-122"/>
                <a:cs typeface="Cambria" pitchFamily="34" charset="-120"/>
              </a:rPr>
              <a:t>Dataset Limitations</a:t>
            </a:r>
            <a:endParaRPr lang="en-US" sz="1250" dirty="0"/>
          </a:p>
        </p:txBody>
      </p:sp>
      <p:sp>
        <p:nvSpPr>
          <p:cNvPr id="11" name="Text 9"/>
          <p:cNvSpPr/>
          <p:nvPr/>
        </p:nvSpPr>
        <p:spPr>
          <a:xfrm>
            <a:off x="4864608" y="139903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Most models trained on DMR-IR alone; poor generalization across cameras, protocols, populations; class imbalance issues</a:t>
            </a:r>
            <a:endParaRPr lang="en-US" sz="1050" dirty="0"/>
          </a:p>
        </p:txBody>
      </p:sp>
      <p:sp>
        <p:nvSpPr>
          <p:cNvPr id="12" name="Shape 10"/>
          <p:cNvSpPr/>
          <p:nvPr/>
        </p:nvSpPr>
        <p:spPr>
          <a:xfrm>
            <a:off x="320040" y="2286000"/>
            <a:ext cx="4160520" cy="1143000"/>
          </a:xfrm>
          <a:prstGeom prst="rect">
            <a:avLst/>
          </a:prstGeom>
          <a:solidFill>
            <a:srgbClr val="FFFFFF"/>
          </a:solidFill>
          <a:ln w="12700">
            <a:solidFill>
              <a:srgbClr val="6B46C1"/>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320040" y="2286000"/>
            <a:ext cx="4160520" cy="54864"/>
          </a:xfrm>
          <a:prstGeom prst="rect">
            <a:avLst/>
          </a:prstGeom>
          <a:solidFill>
            <a:srgbClr val="6B46C1"/>
          </a:solidFill>
          <a:ln w="12700">
            <a:solidFill>
              <a:srgbClr val="6B46C1"/>
            </a:solidFill>
            <a:prstDash val="solid"/>
          </a:ln>
        </p:spPr>
      </p:sp>
      <p:sp>
        <p:nvSpPr>
          <p:cNvPr id="14" name="Text 12"/>
          <p:cNvSpPr/>
          <p:nvPr/>
        </p:nvSpPr>
        <p:spPr>
          <a:xfrm>
            <a:off x="429768" y="2377440"/>
            <a:ext cx="3931920" cy="320040"/>
          </a:xfrm>
          <a:prstGeom prst="rect">
            <a:avLst/>
          </a:prstGeom>
          <a:noFill/>
          <a:ln/>
        </p:spPr>
        <p:txBody>
          <a:bodyPr wrap="square" rtlCol="0" anchor="ctr"/>
          <a:lstStyle/>
          <a:p>
            <a:pPr indent="0" marL="0">
              <a:buNone/>
            </a:pPr>
            <a:r>
              <a:rPr lang="en-US" sz="1250" b="1" dirty="0">
                <a:solidFill>
                  <a:srgbClr val="6B46C1"/>
                </a:solidFill>
                <a:latin typeface="Cambria" pitchFamily="34" charset="0"/>
                <a:ea typeface="Cambria" pitchFamily="34" charset="-122"/>
                <a:cs typeface="Cambria" pitchFamily="34" charset="-120"/>
              </a:rPr>
              <a:t>Physiological Confounders</a:t>
            </a:r>
            <a:endParaRPr lang="en-US" sz="1250" dirty="0"/>
          </a:p>
        </p:txBody>
      </p:sp>
      <p:sp>
        <p:nvSpPr>
          <p:cNvPr id="15" name="Text 13"/>
          <p:cNvSpPr/>
          <p:nvPr/>
        </p:nvSpPr>
        <p:spPr>
          <a:xfrm>
            <a:off x="429768" y="272491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Ambient temperature, menstrual cycle, hormonal contraceptives, caffeine, prior skin treatments all alter thermal signatures</a:t>
            </a:r>
            <a:endParaRPr lang="en-US" sz="1050" dirty="0"/>
          </a:p>
        </p:txBody>
      </p:sp>
      <p:sp>
        <p:nvSpPr>
          <p:cNvPr id="16" name="Shape 14"/>
          <p:cNvSpPr/>
          <p:nvPr/>
        </p:nvSpPr>
        <p:spPr>
          <a:xfrm>
            <a:off x="4754880" y="2286000"/>
            <a:ext cx="4160520" cy="1143000"/>
          </a:xfrm>
          <a:prstGeom prst="rect">
            <a:avLst/>
          </a:prstGeom>
          <a:solidFill>
            <a:srgbClr val="FFFFFF"/>
          </a:solidFill>
          <a:ln w="12700">
            <a:solidFill>
              <a:srgbClr val="0D7377"/>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4754880" y="2286000"/>
            <a:ext cx="4160520" cy="54864"/>
          </a:xfrm>
          <a:prstGeom prst="rect">
            <a:avLst/>
          </a:prstGeom>
          <a:solidFill>
            <a:srgbClr val="0D7377"/>
          </a:solidFill>
          <a:ln w="12700">
            <a:solidFill>
              <a:srgbClr val="0D7377"/>
            </a:solidFill>
            <a:prstDash val="solid"/>
          </a:ln>
        </p:spPr>
      </p:sp>
      <p:sp>
        <p:nvSpPr>
          <p:cNvPr id="18" name="Text 16"/>
          <p:cNvSpPr/>
          <p:nvPr/>
        </p:nvSpPr>
        <p:spPr>
          <a:xfrm>
            <a:off x="4864608" y="2377440"/>
            <a:ext cx="3931920" cy="320040"/>
          </a:xfrm>
          <a:prstGeom prst="rect">
            <a:avLst/>
          </a:prstGeom>
          <a:noFill/>
          <a:ln/>
        </p:spPr>
        <p:txBody>
          <a:bodyPr wrap="square" rtlCol="0" anchor="ctr"/>
          <a:lstStyle/>
          <a:p>
            <a:pPr indent="0" marL="0">
              <a:buNone/>
            </a:pPr>
            <a:r>
              <a:rPr lang="en-US" sz="1250" b="1" dirty="0">
                <a:solidFill>
                  <a:srgbClr val="0D7377"/>
                </a:solidFill>
                <a:latin typeface="Cambria" pitchFamily="34" charset="0"/>
                <a:ea typeface="Cambria" pitchFamily="34" charset="-122"/>
                <a:cs typeface="Cambria" pitchFamily="34" charset="-120"/>
              </a:rPr>
              <a:t>Depth Limitation</a:t>
            </a:r>
            <a:endParaRPr lang="en-US" sz="1250" dirty="0"/>
          </a:p>
        </p:txBody>
      </p:sp>
      <p:sp>
        <p:nvSpPr>
          <p:cNvPr id="19" name="Text 17"/>
          <p:cNvSpPr/>
          <p:nvPr/>
        </p:nvSpPr>
        <p:spPr>
          <a:xfrm>
            <a:off x="4864608" y="272491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Passive IR sensitivity drops for tumors &gt;2–3 cm below skin surface due to tissue insulation; particularly affects larger breasts</a:t>
            </a:r>
            <a:endParaRPr lang="en-US" sz="1050" dirty="0"/>
          </a:p>
        </p:txBody>
      </p:sp>
      <p:sp>
        <p:nvSpPr>
          <p:cNvPr id="20" name="Shape 18"/>
          <p:cNvSpPr/>
          <p:nvPr/>
        </p:nvSpPr>
        <p:spPr>
          <a:xfrm>
            <a:off x="320040" y="3611880"/>
            <a:ext cx="4160520" cy="1143000"/>
          </a:xfrm>
          <a:prstGeom prst="rect">
            <a:avLst/>
          </a:prstGeom>
          <a:solidFill>
            <a:srgbClr val="FFFFFF"/>
          </a:solidFill>
          <a:ln w="12700">
            <a:solidFill>
              <a:srgbClr val="2F855A"/>
            </a:solidFill>
            <a:prstDash val="solid"/>
          </a:ln>
          <a:effectLst>
            <a:outerShdw sx="100000" sy="100000" kx="0" ky="0" algn="bl" rotWithShape="0" blurRad="63500" dist="25400" dir="8100000">
              <a:srgbClr val="000000">
                <a:alpha val="10000"/>
              </a:srgbClr>
            </a:outerShdw>
          </a:effectLst>
        </p:spPr>
      </p:sp>
      <p:sp>
        <p:nvSpPr>
          <p:cNvPr id="21" name="Shape 19"/>
          <p:cNvSpPr/>
          <p:nvPr/>
        </p:nvSpPr>
        <p:spPr>
          <a:xfrm>
            <a:off x="320040" y="3611880"/>
            <a:ext cx="4160520" cy="54864"/>
          </a:xfrm>
          <a:prstGeom prst="rect">
            <a:avLst/>
          </a:prstGeom>
          <a:solidFill>
            <a:srgbClr val="2F855A"/>
          </a:solidFill>
          <a:ln w="12700">
            <a:solidFill>
              <a:srgbClr val="2F855A"/>
            </a:solidFill>
            <a:prstDash val="solid"/>
          </a:ln>
        </p:spPr>
      </p:sp>
      <p:sp>
        <p:nvSpPr>
          <p:cNvPr id="22" name="Text 20"/>
          <p:cNvSpPr/>
          <p:nvPr/>
        </p:nvSpPr>
        <p:spPr>
          <a:xfrm>
            <a:off x="429768" y="3703320"/>
            <a:ext cx="3931920" cy="320040"/>
          </a:xfrm>
          <a:prstGeom prst="rect">
            <a:avLst/>
          </a:prstGeom>
          <a:noFill/>
          <a:ln/>
        </p:spPr>
        <p:txBody>
          <a:bodyPr wrap="square" rtlCol="0" anchor="ctr"/>
          <a:lstStyle/>
          <a:p>
            <a:pPr indent="0" marL="0">
              <a:buNone/>
            </a:pPr>
            <a:r>
              <a:rPr lang="en-US" sz="1250" b="1" dirty="0">
                <a:solidFill>
                  <a:srgbClr val="2F855A"/>
                </a:solidFill>
                <a:latin typeface="Cambria" pitchFamily="34" charset="0"/>
                <a:ea typeface="Cambria" pitchFamily="34" charset="-122"/>
                <a:cs typeface="Cambria" pitchFamily="34" charset="-120"/>
              </a:rPr>
              <a:t>Model Interpretability</a:t>
            </a:r>
            <a:endParaRPr lang="en-US" sz="1250" dirty="0"/>
          </a:p>
        </p:txBody>
      </p:sp>
      <p:sp>
        <p:nvSpPr>
          <p:cNvPr id="23" name="Text 21"/>
          <p:cNvSpPr/>
          <p:nvPr/>
        </p:nvSpPr>
        <p:spPr>
          <a:xfrm>
            <a:off x="429768" y="405079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Black-box CNN decisions not acceptable clinically; XAI methods (Grad-CAM, SHAP) being developed but lack clinical validation</a:t>
            </a:r>
            <a:endParaRPr lang="en-US" sz="1050" dirty="0"/>
          </a:p>
        </p:txBody>
      </p:sp>
      <p:sp>
        <p:nvSpPr>
          <p:cNvPr id="24" name="Shape 22"/>
          <p:cNvSpPr/>
          <p:nvPr/>
        </p:nvSpPr>
        <p:spPr>
          <a:xfrm>
            <a:off x="4754880" y="3611880"/>
            <a:ext cx="4160520" cy="1143000"/>
          </a:xfrm>
          <a:prstGeom prst="rect">
            <a:avLst/>
          </a:prstGeom>
          <a:solidFill>
            <a:srgbClr val="FFFFFF"/>
          </a:solidFill>
          <a:ln w="12700">
            <a:solidFill>
              <a:srgbClr val="744210"/>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4754880" y="3611880"/>
            <a:ext cx="4160520" cy="54864"/>
          </a:xfrm>
          <a:prstGeom prst="rect">
            <a:avLst/>
          </a:prstGeom>
          <a:solidFill>
            <a:srgbClr val="744210"/>
          </a:solidFill>
          <a:ln w="12700">
            <a:solidFill>
              <a:srgbClr val="744210"/>
            </a:solidFill>
            <a:prstDash val="solid"/>
          </a:ln>
        </p:spPr>
      </p:sp>
      <p:sp>
        <p:nvSpPr>
          <p:cNvPr id="26" name="Text 24"/>
          <p:cNvSpPr/>
          <p:nvPr/>
        </p:nvSpPr>
        <p:spPr>
          <a:xfrm>
            <a:off x="4864608" y="3703320"/>
            <a:ext cx="3931920" cy="320040"/>
          </a:xfrm>
          <a:prstGeom prst="rect">
            <a:avLst/>
          </a:prstGeom>
          <a:noFill/>
          <a:ln/>
        </p:spPr>
        <p:txBody>
          <a:bodyPr wrap="square" rtlCol="0" anchor="ctr"/>
          <a:lstStyle/>
          <a:p>
            <a:pPr indent="0" marL="0">
              <a:buNone/>
            </a:pPr>
            <a:r>
              <a:rPr lang="en-US" sz="1250" b="1" dirty="0">
                <a:solidFill>
                  <a:srgbClr val="744210"/>
                </a:solidFill>
                <a:latin typeface="Cambria" pitchFamily="34" charset="0"/>
                <a:ea typeface="Cambria" pitchFamily="34" charset="-122"/>
                <a:cs typeface="Cambria" pitchFamily="34" charset="-120"/>
              </a:rPr>
              <a:t>Protocol Standardization</a:t>
            </a:r>
            <a:endParaRPr lang="en-US" sz="1250" dirty="0"/>
          </a:p>
        </p:txBody>
      </p:sp>
      <p:sp>
        <p:nvSpPr>
          <p:cNvPr id="27" name="Text 25"/>
          <p:cNvSpPr/>
          <p:nvPr/>
        </p:nvSpPr>
        <p:spPr>
          <a:xfrm>
            <a:off x="4864608" y="4050792"/>
            <a:ext cx="3931920" cy="65836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No international standards for room conditions, camera specs, patient preparation, acquisition timing — hinders cross-study comparisons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A9AD"/>
          </a:solidFill>
          <a:ln w="12700">
            <a:solidFill>
              <a:srgbClr val="14A9AD"/>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Future Research Directions</a:t>
            </a:r>
            <a:endParaRPr lang="en-US" sz="2400" dirty="0"/>
          </a:p>
        </p:txBody>
      </p:sp>
      <p:sp>
        <p:nvSpPr>
          <p:cNvPr id="4" name="Shape 2"/>
          <p:cNvSpPr/>
          <p:nvPr/>
        </p:nvSpPr>
        <p:spPr>
          <a:xfrm>
            <a:off x="274320" y="960120"/>
            <a:ext cx="2788920" cy="1737360"/>
          </a:xfrm>
          <a:prstGeom prst="rect">
            <a:avLst/>
          </a:prstGeom>
          <a:solidFill>
            <a:srgbClr val="0D2240"/>
          </a:solidFill>
          <a:ln w="12700">
            <a:solidFill>
              <a:srgbClr val="32E0C4"/>
            </a:solidFill>
            <a:prstDash val="solid"/>
          </a:ln>
        </p:spPr>
      </p:sp>
      <p:sp>
        <p:nvSpPr>
          <p:cNvPr id="5" name="Text 3"/>
          <p:cNvSpPr/>
          <p:nvPr/>
        </p:nvSpPr>
        <p:spPr>
          <a:xfrm>
            <a:off x="384048" y="1051560"/>
            <a:ext cx="731520" cy="548640"/>
          </a:xfrm>
          <a:prstGeom prst="rect">
            <a:avLst/>
          </a:prstGeom>
          <a:noFill/>
          <a:ln/>
        </p:spPr>
        <p:txBody>
          <a:bodyPr wrap="square" rtlCol="0" anchor="ctr"/>
          <a:lstStyle/>
          <a:p>
            <a:pPr indent="0" marL="0">
              <a:buNone/>
            </a:pPr>
            <a:r>
              <a:rPr lang="en-US" sz="3000" b="1" dirty="0">
                <a:solidFill>
                  <a:srgbClr val="32E0C4"/>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384048" y="1554480"/>
            <a:ext cx="2560320" cy="347472"/>
          </a:xfrm>
          <a:prstGeom prst="rect">
            <a:avLst/>
          </a:prstGeom>
          <a:noFill/>
          <a:ln/>
        </p:spPr>
        <p:txBody>
          <a:bodyPr wrap="square" rtlCol="0" anchor="ctr"/>
          <a:lstStyle/>
          <a:p>
            <a:pPr indent="0" marL="0">
              <a:buNone/>
            </a:pPr>
            <a:r>
              <a:rPr lang="en-US" sz="1250" b="1" dirty="0">
                <a:solidFill>
                  <a:srgbClr val="32E0C4"/>
                </a:solidFill>
                <a:latin typeface="Cambria" pitchFamily="34" charset="0"/>
                <a:ea typeface="Cambria" pitchFamily="34" charset="-122"/>
                <a:cs typeface="Cambria" pitchFamily="34" charset="-120"/>
              </a:rPr>
              <a:t>Multimodal Fusion</a:t>
            </a:r>
            <a:endParaRPr lang="en-US" sz="1250" dirty="0"/>
          </a:p>
        </p:txBody>
      </p:sp>
      <p:sp>
        <p:nvSpPr>
          <p:cNvPr id="7" name="Text 5"/>
          <p:cNvSpPr/>
          <p:nvPr/>
        </p:nvSpPr>
        <p:spPr>
          <a:xfrm>
            <a:off x="384048" y="192024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Fuse thermography with mammography, ultrasound, MRI &amp; clinical biomarkers. Studies show 3–7% accuracy gain over single-modality.</a:t>
            </a:r>
            <a:endParaRPr lang="en-US" sz="1050" dirty="0"/>
          </a:p>
        </p:txBody>
      </p:sp>
      <p:sp>
        <p:nvSpPr>
          <p:cNvPr id="8" name="Shape 6"/>
          <p:cNvSpPr/>
          <p:nvPr/>
        </p:nvSpPr>
        <p:spPr>
          <a:xfrm>
            <a:off x="3218688" y="960120"/>
            <a:ext cx="2788920" cy="1737360"/>
          </a:xfrm>
          <a:prstGeom prst="rect">
            <a:avLst/>
          </a:prstGeom>
          <a:solidFill>
            <a:srgbClr val="0D2240"/>
          </a:solidFill>
          <a:ln w="12700">
            <a:solidFill>
              <a:srgbClr val="F4A261"/>
            </a:solidFill>
            <a:prstDash val="solid"/>
          </a:ln>
        </p:spPr>
      </p:sp>
      <p:sp>
        <p:nvSpPr>
          <p:cNvPr id="9" name="Text 7"/>
          <p:cNvSpPr/>
          <p:nvPr/>
        </p:nvSpPr>
        <p:spPr>
          <a:xfrm>
            <a:off x="3328416" y="1051560"/>
            <a:ext cx="731520" cy="548640"/>
          </a:xfrm>
          <a:prstGeom prst="rect">
            <a:avLst/>
          </a:prstGeom>
          <a:noFill/>
          <a:ln/>
        </p:spPr>
        <p:txBody>
          <a:bodyPr wrap="square" rtlCol="0" anchor="ctr"/>
          <a:lstStyle/>
          <a:p>
            <a:pPr indent="0" marL="0">
              <a:buNone/>
            </a:pPr>
            <a:r>
              <a:rPr lang="en-US" sz="3000" b="1" dirty="0">
                <a:solidFill>
                  <a:srgbClr val="F4A261"/>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3328416" y="1554480"/>
            <a:ext cx="2560320" cy="347472"/>
          </a:xfrm>
          <a:prstGeom prst="rect">
            <a:avLst/>
          </a:prstGeom>
          <a:noFill/>
          <a:ln/>
        </p:spPr>
        <p:txBody>
          <a:bodyPr wrap="square" rtlCol="0" anchor="ctr"/>
          <a:lstStyle/>
          <a:p>
            <a:pPr indent="0" marL="0">
              <a:buNone/>
            </a:pPr>
            <a:r>
              <a:rPr lang="en-US" sz="1250" b="1" dirty="0">
                <a:solidFill>
                  <a:srgbClr val="F4A261"/>
                </a:solidFill>
                <a:latin typeface="Cambria" pitchFamily="34" charset="0"/>
                <a:ea typeface="Cambria" pitchFamily="34" charset="-122"/>
                <a:cs typeface="Cambria" pitchFamily="34" charset="-120"/>
              </a:rPr>
              <a:t>Federated Learning</a:t>
            </a:r>
            <a:endParaRPr lang="en-US" sz="1250" dirty="0"/>
          </a:p>
        </p:txBody>
      </p:sp>
      <p:sp>
        <p:nvSpPr>
          <p:cNvPr id="11" name="Text 9"/>
          <p:cNvSpPr/>
          <p:nvPr/>
        </p:nvSpPr>
        <p:spPr>
          <a:xfrm>
            <a:off x="3328416" y="192024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Privacy-preserving distributed AI training across institutions without sharing raw patient data. Currently only 1–3 published studies.</a:t>
            </a:r>
            <a:endParaRPr lang="en-US" sz="1050" dirty="0"/>
          </a:p>
        </p:txBody>
      </p:sp>
      <p:sp>
        <p:nvSpPr>
          <p:cNvPr id="12" name="Shape 10"/>
          <p:cNvSpPr/>
          <p:nvPr/>
        </p:nvSpPr>
        <p:spPr>
          <a:xfrm>
            <a:off x="6163056" y="960120"/>
            <a:ext cx="2788920" cy="1737360"/>
          </a:xfrm>
          <a:prstGeom prst="rect">
            <a:avLst/>
          </a:prstGeom>
          <a:solidFill>
            <a:srgbClr val="0D2240"/>
          </a:solidFill>
          <a:ln w="12700">
            <a:solidFill>
              <a:srgbClr val="B794F4"/>
            </a:solidFill>
            <a:prstDash val="solid"/>
          </a:ln>
        </p:spPr>
      </p:sp>
      <p:sp>
        <p:nvSpPr>
          <p:cNvPr id="13" name="Text 11"/>
          <p:cNvSpPr/>
          <p:nvPr/>
        </p:nvSpPr>
        <p:spPr>
          <a:xfrm>
            <a:off x="6272784" y="1051560"/>
            <a:ext cx="731520" cy="548640"/>
          </a:xfrm>
          <a:prstGeom prst="rect">
            <a:avLst/>
          </a:prstGeom>
          <a:noFill/>
          <a:ln/>
        </p:spPr>
        <p:txBody>
          <a:bodyPr wrap="square" rtlCol="0" anchor="ctr"/>
          <a:lstStyle/>
          <a:p>
            <a:pPr indent="0" marL="0">
              <a:buNone/>
            </a:pPr>
            <a:r>
              <a:rPr lang="en-US" sz="3000" b="1" dirty="0">
                <a:solidFill>
                  <a:srgbClr val="B794F4"/>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6272784" y="1554480"/>
            <a:ext cx="2560320" cy="347472"/>
          </a:xfrm>
          <a:prstGeom prst="rect">
            <a:avLst/>
          </a:prstGeom>
          <a:noFill/>
          <a:ln/>
        </p:spPr>
        <p:txBody>
          <a:bodyPr wrap="square" rtlCol="0" anchor="ctr"/>
          <a:lstStyle/>
          <a:p>
            <a:pPr indent="0" marL="0">
              <a:buNone/>
            </a:pPr>
            <a:r>
              <a:rPr lang="en-US" sz="1250" b="1" dirty="0">
                <a:solidFill>
                  <a:srgbClr val="B794F4"/>
                </a:solidFill>
                <a:latin typeface="Cambria" pitchFamily="34" charset="0"/>
                <a:ea typeface="Cambria" pitchFamily="34" charset="-122"/>
                <a:cs typeface="Cambria" pitchFamily="34" charset="-120"/>
              </a:rPr>
              <a:t>Protocol Standardization</a:t>
            </a:r>
            <a:endParaRPr lang="en-US" sz="1250" dirty="0"/>
          </a:p>
        </p:txBody>
      </p:sp>
      <p:sp>
        <p:nvSpPr>
          <p:cNvPr id="15" name="Text 13"/>
          <p:cNvSpPr/>
          <p:nvPr/>
        </p:nvSpPr>
        <p:spPr>
          <a:xfrm>
            <a:off x="6272784" y="192024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International standards for room conditions, patient prep, calibration. Especially critical for African populations with limited mammography.</a:t>
            </a:r>
            <a:endParaRPr lang="en-US" sz="1050" dirty="0"/>
          </a:p>
        </p:txBody>
      </p:sp>
      <p:sp>
        <p:nvSpPr>
          <p:cNvPr id="16" name="Shape 14"/>
          <p:cNvSpPr/>
          <p:nvPr/>
        </p:nvSpPr>
        <p:spPr>
          <a:xfrm>
            <a:off x="274320" y="2880360"/>
            <a:ext cx="2788920" cy="1737360"/>
          </a:xfrm>
          <a:prstGeom prst="rect">
            <a:avLst/>
          </a:prstGeom>
          <a:solidFill>
            <a:srgbClr val="0D2240"/>
          </a:solidFill>
          <a:ln w="12700">
            <a:solidFill>
              <a:srgbClr val="14A9AD"/>
            </a:solidFill>
            <a:prstDash val="solid"/>
          </a:ln>
        </p:spPr>
      </p:sp>
      <p:sp>
        <p:nvSpPr>
          <p:cNvPr id="17" name="Text 15"/>
          <p:cNvSpPr/>
          <p:nvPr/>
        </p:nvSpPr>
        <p:spPr>
          <a:xfrm>
            <a:off x="384048" y="2971800"/>
            <a:ext cx="731520" cy="548640"/>
          </a:xfrm>
          <a:prstGeom prst="rect">
            <a:avLst/>
          </a:prstGeom>
          <a:noFill/>
          <a:ln/>
        </p:spPr>
        <p:txBody>
          <a:bodyPr wrap="square" rtlCol="0" anchor="ctr"/>
          <a:lstStyle/>
          <a:p>
            <a:pPr indent="0" marL="0">
              <a:buNone/>
            </a:pPr>
            <a:r>
              <a:rPr lang="en-US" sz="3000" b="1" dirty="0">
                <a:solidFill>
                  <a:srgbClr val="14A9AD"/>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384048" y="3474720"/>
            <a:ext cx="2560320" cy="347472"/>
          </a:xfrm>
          <a:prstGeom prst="rect">
            <a:avLst/>
          </a:prstGeom>
          <a:noFill/>
          <a:ln/>
        </p:spPr>
        <p:txBody>
          <a:bodyPr wrap="square" rtlCol="0" anchor="ctr"/>
          <a:lstStyle/>
          <a:p>
            <a:pPr indent="0" marL="0">
              <a:buNone/>
            </a:pPr>
            <a:r>
              <a:rPr lang="en-US" sz="1250" b="1" dirty="0">
                <a:solidFill>
                  <a:srgbClr val="14A9AD"/>
                </a:solidFill>
                <a:latin typeface="Cambria" pitchFamily="34" charset="0"/>
                <a:ea typeface="Cambria" pitchFamily="34" charset="-122"/>
                <a:cs typeface="Cambria" pitchFamily="34" charset="-120"/>
              </a:rPr>
              <a:t>Wearable Monitoring</a:t>
            </a:r>
            <a:endParaRPr lang="en-US" sz="1250" dirty="0"/>
          </a:p>
        </p:txBody>
      </p:sp>
      <p:sp>
        <p:nvSpPr>
          <p:cNvPr id="19" name="Text 17"/>
          <p:cNvSpPr/>
          <p:nvPr/>
        </p:nvSpPr>
        <p:spPr>
          <a:xfrm>
            <a:off x="384048" y="384048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Flexible IR sensors for continuous skin temperature tracking. Integration with smartphone apps for decentralized early detection.</a:t>
            </a:r>
            <a:endParaRPr lang="en-US" sz="1050" dirty="0"/>
          </a:p>
        </p:txBody>
      </p:sp>
      <p:sp>
        <p:nvSpPr>
          <p:cNvPr id="20" name="Shape 18"/>
          <p:cNvSpPr/>
          <p:nvPr/>
        </p:nvSpPr>
        <p:spPr>
          <a:xfrm>
            <a:off x="3218688" y="2880360"/>
            <a:ext cx="2788920" cy="1737360"/>
          </a:xfrm>
          <a:prstGeom prst="rect">
            <a:avLst/>
          </a:prstGeom>
          <a:solidFill>
            <a:srgbClr val="0D2240"/>
          </a:solidFill>
          <a:ln w="12700">
            <a:solidFill>
              <a:srgbClr val="68D391"/>
            </a:solidFill>
            <a:prstDash val="solid"/>
          </a:ln>
        </p:spPr>
      </p:sp>
      <p:sp>
        <p:nvSpPr>
          <p:cNvPr id="21" name="Text 19"/>
          <p:cNvSpPr/>
          <p:nvPr/>
        </p:nvSpPr>
        <p:spPr>
          <a:xfrm>
            <a:off x="3328416" y="2971800"/>
            <a:ext cx="731520" cy="548640"/>
          </a:xfrm>
          <a:prstGeom prst="rect">
            <a:avLst/>
          </a:prstGeom>
          <a:noFill/>
          <a:ln/>
        </p:spPr>
        <p:txBody>
          <a:bodyPr wrap="square" rtlCol="0" anchor="ctr"/>
          <a:lstStyle/>
          <a:p>
            <a:pPr indent="0" marL="0">
              <a:buNone/>
            </a:pPr>
            <a:r>
              <a:rPr lang="en-US" sz="3000" b="1" dirty="0">
                <a:solidFill>
                  <a:srgbClr val="68D391"/>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3328416" y="3474720"/>
            <a:ext cx="2560320" cy="347472"/>
          </a:xfrm>
          <a:prstGeom prst="rect">
            <a:avLst/>
          </a:prstGeom>
          <a:noFill/>
          <a:ln/>
        </p:spPr>
        <p:txBody>
          <a:bodyPr wrap="square" rtlCol="0" anchor="ctr"/>
          <a:lstStyle/>
          <a:p>
            <a:pPr indent="0" marL="0">
              <a:buNone/>
            </a:pPr>
            <a:r>
              <a:rPr lang="en-US" sz="1250" b="1" dirty="0">
                <a:solidFill>
                  <a:srgbClr val="68D391"/>
                </a:solidFill>
                <a:latin typeface="Cambria" pitchFamily="34" charset="0"/>
                <a:ea typeface="Cambria" pitchFamily="34" charset="-122"/>
                <a:cs typeface="Cambria" pitchFamily="34" charset="-120"/>
              </a:rPr>
              <a:t>Nanoparticle Enhancement</a:t>
            </a:r>
            <a:endParaRPr lang="en-US" sz="1250" dirty="0"/>
          </a:p>
        </p:txBody>
      </p:sp>
      <p:sp>
        <p:nvSpPr>
          <p:cNvPr id="23" name="Text 21"/>
          <p:cNvSpPr/>
          <p:nvPr/>
        </p:nvSpPr>
        <p:spPr>
          <a:xfrm>
            <a:off x="3328416" y="384048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Magnetic nanoparticles as contrast agents. EPR effect → tumor accumulation → magnetic heating → improved deep tumor detectability.</a:t>
            </a:r>
            <a:endParaRPr lang="en-US" sz="1050" dirty="0"/>
          </a:p>
        </p:txBody>
      </p:sp>
      <p:sp>
        <p:nvSpPr>
          <p:cNvPr id="24" name="Shape 22"/>
          <p:cNvSpPr/>
          <p:nvPr/>
        </p:nvSpPr>
        <p:spPr>
          <a:xfrm>
            <a:off x="6163056" y="2880360"/>
            <a:ext cx="2788920" cy="1737360"/>
          </a:xfrm>
          <a:prstGeom prst="rect">
            <a:avLst/>
          </a:prstGeom>
          <a:solidFill>
            <a:srgbClr val="0D2240"/>
          </a:solidFill>
          <a:ln w="12700">
            <a:solidFill>
              <a:srgbClr val="F687B3"/>
            </a:solidFill>
            <a:prstDash val="solid"/>
          </a:ln>
        </p:spPr>
      </p:sp>
      <p:sp>
        <p:nvSpPr>
          <p:cNvPr id="25" name="Text 23"/>
          <p:cNvSpPr/>
          <p:nvPr/>
        </p:nvSpPr>
        <p:spPr>
          <a:xfrm>
            <a:off x="6272784" y="2971800"/>
            <a:ext cx="731520" cy="548640"/>
          </a:xfrm>
          <a:prstGeom prst="rect">
            <a:avLst/>
          </a:prstGeom>
          <a:noFill/>
          <a:ln/>
        </p:spPr>
        <p:txBody>
          <a:bodyPr wrap="square" rtlCol="0" anchor="ctr"/>
          <a:lstStyle/>
          <a:p>
            <a:pPr indent="0" marL="0">
              <a:buNone/>
            </a:pPr>
            <a:r>
              <a:rPr lang="en-US" sz="3000" b="1" dirty="0">
                <a:solidFill>
                  <a:srgbClr val="F687B3"/>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6272784" y="3474720"/>
            <a:ext cx="2560320" cy="347472"/>
          </a:xfrm>
          <a:prstGeom prst="rect">
            <a:avLst/>
          </a:prstGeom>
          <a:noFill/>
          <a:ln/>
        </p:spPr>
        <p:txBody>
          <a:bodyPr wrap="square" rtlCol="0" anchor="ctr"/>
          <a:lstStyle/>
          <a:p>
            <a:pPr indent="0" marL="0">
              <a:buNone/>
            </a:pPr>
            <a:r>
              <a:rPr lang="en-US" sz="1250" b="1" dirty="0">
                <a:solidFill>
                  <a:srgbClr val="F687B3"/>
                </a:solidFill>
                <a:latin typeface="Cambria" pitchFamily="34" charset="0"/>
                <a:ea typeface="Cambria" pitchFamily="34" charset="-122"/>
                <a:cs typeface="Cambria" pitchFamily="34" charset="-120"/>
              </a:rPr>
              <a:t>Explainable AI + Real-Time Video</a:t>
            </a:r>
            <a:endParaRPr lang="en-US" sz="1250" dirty="0"/>
          </a:p>
        </p:txBody>
      </p:sp>
      <p:sp>
        <p:nvSpPr>
          <p:cNvPr id="27" name="Text 25"/>
          <p:cNvSpPr/>
          <p:nvPr/>
        </p:nvSpPr>
        <p:spPr>
          <a:xfrm>
            <a:off x="6272784" y="3840480"/>
            <a:ext cx="2560320" cy="71323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Grad-CAM/SHAP overlays for clinician trust. 3D CNNs, ConvLSTMs for spatiotemporal thermographic video analysis.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7377"/>
          </a:solidFill>
          <a:ln w="12700">
            <a:solidFill>
              <a:srgbClr val="0D7377"/>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4" name="Shape 2"/>
          <p:cNvSpPr/>
          <p:nvPr/>
        </p:nvSpPr>
        <p:spPr>
          <a:xfrm>
            <a:off x="320040" y="960120"/>
            <a:ext cx="8503920" cy="868680"/>
          </a:xfrm>
          <a:prstGeom prst="rect">
            <a:avLst/>
          </a:prstGeom>
          <a:solidFill>
            <a:srgbClr val="0D7377"/>
          </a:solidFill>
          <a:ln w="12700">
            <a:solidFill>
              <a:srgbClr val="0D7377"/>
            </a:solidFill>
            <a:prstDash val="solid"/>
          </a:ln>
        </p:spPr>
      </p:sp>
      <p:sp>
        <p:nvSpPr>
          <p:cNvPr id="5" name="Text 3"/>
          <p:cNvSpPr/>
          <p:nvPr/>
        </p:nvSpPr>
        <p:spPr>
          <a:xfrm>
            <a:off x="457200" y="1005840"/>
            <a:ext cx="8229600" cy="77724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Thermal imaging is scientifically grounded, radiation-free, and rapidly evolving as a complementary cancer detection modality.</a:t>
            </a:r>
            <a:endParaRPr lang="en-US" sz="1400" dirty="0"/>
          </a:p>
        </p:txBody>
      </p:sp>
      <p:sp>
        <p:nvSpPr>
          <p:cNvPr id="6" name="Shape 4"/>
          <p:cNvSpPr/>
          <p:nvPr/>
        </p:nvSpPr>
        <p:spPr>
          <a:xfrm>
            <a:off x="320040" y="1965960"/>
            <a:ext cx="4069080" cy="2606040"/>
          </a:xfrm>
          <a:prstGeom prst="rect">
            <a:avLst/>
          </a:prstGeom>
          <a:solidFill>
            <a:srgbClr val="0D2240"/>
          </a:solidFill>
          <a:ln w="12700">
            <a:solidFill>
              <a:srgbClr val="32E0C4"/>
            </a:solidFill>
            <a:prstDash val="solid"/>
          </a:ln>
        </p:spPr>
      </p:sp>
      <p:sp>
        <p:nvSpPr>
          <p:cNvPr id="7" name="Text 5"/>
          <p:cNvSpPr/>
          <p:nvPr/>
        </p:nvSpPr>
        <p:spPr>
          <a:xfrm>
            <a:off x="457200" y="2029968"/>
            <a:ext cx="3749040" cy="347472"/>
          </a:xfrm>
          <a:prstGeom prst="rect">
            <a:avLst/>
          </a:prstGeom>
          <a:noFill/>
          <a:ln/>
        </p:spPr>
        <p:txBody>
          <a:bodyPr wrap="square" rtlCol="0" anchor="ctr"/>
          <a:lstStyle/>
          <a:p>
            <a:pPr indent="0" marL="0">
              <a:buNone/>
            </a:pPr>
            <a:r>
              <a:rPr lang="en-US" sz="1400" b="1" dirty="0">
                <a:solidFill>
                  <a:srgbClr val="32E0C4"/>
                </a:solidFill>
                <a:latin typeface="Cambria" pitchFamily="34" charset="0"/>
                <a:ea typeface="Cambria" pitchFamily="34" charset="-122"/>
                <a:cs typeface="Cambria" pitchFamily="34" charset="-120"/>
              </a:rPr>
              <a:t>✓  Achievements</a:t>
            </a:r>
            <a:endParaRPr lang="en-US" sz="1400" dirty="0"/>
          </a:p>
        </p:txBody>
      </p:sp>
      <p:sp>
        <p:nvSpPr>
          <p:cNvPr id="8" name="Text 6"/>
          <p:cNvSpPr/>
          <p:nvPr/>
        </p:nvSpPr>
        <p:spPr>
          <a:xfrm>
            <a:off x="457200" y="2450592"/>
            <a:ext cx="3840480" cy="2029968"/>
          </a:xfrm>
          <a:prstGeom prst="rect">
            <a:avLst/>
          </a:prstGeom>
          <a:noFill/>
          <a:ln/>
        </p:spPr>
        <p:txBody>
          <a:bodyPr wrap="square" rtlCol="0" anchor="ctr"/>
          <a:lstStyle/>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Improved IR sensor sensitivity and novel dynamic techniques</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CNNs, transfer learning, physics-informed inverse modeling</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Application expanded to breast, thyroid, skin, rectal, brain tumors</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Smartphone-based democratization for LMICs</a:t>
            </a:r>
            <a:endParaRPr lang="en-US" sz="1150" dirty="0"/>
          </a:p>
        </p:txBody>
      </p:sp>
      <p:sp>
        <p:nvSpPr>
          <p:cNvPr id="9" name="Shape 7"/>
          <p:cNvSpPr/>
          <p:nvPr/>
        </p:nvSpPr>
        <p:spPr>
          <a:xfrm>
            <a:off x="4754880" y="1965960"/>
            <a:ext cx="4069080" cy="2606040"/>
          </a:xfrm>
          <a:prstGeom prst="rect">
            <a:avLst/>
          </a:prstGeom>
          <a:solidFill>
            <a:srgbClr val="0D2240"/>
          </a:solidFill>
          <a:ln w="12700">
            <a:solidFill>
              <a:srgbClr val="F4A261"/>
            </a:solidFill>
            <a:prstDash val="solid"/>
          </a:ln>
        </p:spPr>
      </p:sp>
      <p:sp>
        <p:nvSpPr>
          <p:cNvPr id="10" name="Text 8"/>
          <p:cNvSpPr/>
          <p:nvPr/>
        </p:nvSpPr>
        <p:spPr>
          <a:xfrm>
            <a:off x="4892040" y="2029968"/>
            <a:ext cx="3749040" cy="347472"/>
          </a:xfrm>
          <a:prstGeom prst="rect">
            <a:avLst/>
          </a:prstGeom>
          <a:noFill/>
          <a:ln/>
        </p:spPr>
        <p:txBody>
          <a:bodyPr wrap="square" rtlCol="0" anchor="ctr"/>
          <a:lstStyle/>
          <a:p>
            <a:pPr indent="0" marL="0">
              <a:buNone/>
            </a:pPr>
            <a:r>
              <a:rPr lang="en-US" sz="1400" b="1" dirty="0">
                <a:solidFill>
                  <a:srgbClr val="F4A261"/>
                </a:solidFill>
                <a:latin typeface="Cambria" pitchFamily="34" charset="0"/>
                <a:ea typeface="Cambria" pitchFamily="34" charset="-122"/>
                <a:cs typeface="Cambria" pitchFamily="34" charset="-120"/>
              </a:rPr>
              <a:t>⚠  Remaining Challenges</a:t>
            </a:r>
            <a:endParaRPr lang="en-US" sz="1400" dirty="0"/>
          </a:p>
        </p:txBody>
      </p:sp>
      <p:sp>
        <p:nvSpPr>
          <p:cNvPr id="11" name="Text 9"/>
          <p:cNvSpPr/>
          <p:nvPr/>
        </p:nvSpPr>
        <p:spPr>
          <a:xfrm>
            <a:off x="4892040" y="2450592"/>
            <a:ext cx="3840480" cy="2029968"/>
          </a:xfrm>
          <a:prstGeom prst="rect">
            <a:avLst/>
          </a:prstGeom>
          <a:noFill/>
          <a:ln/>
        </p:spPr>
        <p:txBody>
          <a:bodyPr wrap="square" rtlCol="0" anchor="ctr"/>
          <a:lstStyle/>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Small, non-diverse datasets; no standardized protocols</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No FDA approval as primary screening tool</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Physiological confounders in routine clinical practice</a:t>
            </a:r>
            <a:endParaRPr lang="en-US" sz="1150" dirty="0"/>
          </a:p>
          <a:p>
            <a:pPr marL="342900" indent="-342900">
              <a:spcAft>
                <a:spcPts val="500"/>
              </a:spcAft>
              <a:buSzPct val="100000"/>
              <a:buChar char="•"/>
            </a:pPr>
            <a:r>
              <a:rPr lang="en-US" sz="1150" dirty="0">
                <a:solidFill>
                  <a:srgbClr val="F0F4F8"/>
                </a:solidFill>
                <a:latin typeface="Calibri" pitchFamily="34" charset="0"/>
                <a:ea typeface="Calibri" pitchFamily="34" charset="-122"/>
                <a:cs typeface="Calibri" pitchFamily="34" charset="-120"/>
              </a:rPr>
              <a:t>Depth limits for deep-seated tumors; AI interpretability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Thermal Imaging Technologies for Cancer Detection</dc:title>
  <dc:subject>PptxGenJS Presentation</dc:subject>
  <dc:creator>Lofoga Innocent &amp; Ayikoru Winnie</dc:creator>
  <cp:lastModifiedBy>Lofoga Innocent &amp; Ayikoru Winnie</cp:lastModifiedBy>
  <cp:revision>1</cp:revision>
  <dcterms:created xsi:type="dcterms:W3CDTF">2026-04-15T21:12:21Z</dcterms:created>
  <dcterms:modified xsi:type="dcterms:W3CDTF">2026-04-15T21:12:21Z</dcterms:modified>
</cp:coreProperties>
</file>